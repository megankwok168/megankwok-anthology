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a465608eeb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a465608eeb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465608eeb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465608eeb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1960s when the concept of computer science emerged, the programming languages that existed were limited to those used in the </a:t>
            </a:r>
            <a:r>
              <a:rPr lang="en"/>
              <a:t>industry</a:t>
            </a:r>
            <a:r>
              <a:rPr lang="en"/>
              <a:t>.  When computer science was first established as an academic field in 1962, the languages taught were those that were used in the industry, as there were limited languages available to teach students.  Students were prepared directly for entrance into the professional world of computer science.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465608eeb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465608eeb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465608eeb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465608eeb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465608eeb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465608eeb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80ff34ea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80ff34ea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80ff34ea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80ff34ea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465608eeb_5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465608eeb_5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OO-programming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465608eeb_5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465608eeb_5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even valuable by professors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465608eeb_5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465608eeb_5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80ff34ea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80ff34ea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465608eeb_5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465608eeb_5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552081c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552081c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231876"/>
            <a:ext cx="8520600" cy="2052600"/>
          </a:xfrm>
          <a:prstGeom prst="rect">
            <a:avLst/>
          </a:prstGeom>
          <a:solidFill>
            <a:srgbClr val="F3F3F3"/>
          </a:solidFill>
          <a:ln cap="flat" cmpd="sng" w="9525">
            <a:solidFill>
              <a:srgbClr val="666666"/>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680">
                <a:solidFill>
                  <a:srgbClr val="000000"/>
                </a:solidFill>
                <a:latin typeface="Times New Roman"/>
                <a:ea typeface="Times New Roman"/>
                <a:cs typeface="Times New Roman"/>
                <a:sym typeface="Times New Roman"/>
              </a:rPr>
              <a:t>Programming Language Use in </a:t>
            </a:r>
            <a:endParaRPr sz="3680">
              <a:solidFill>
                <a:srgbClr val="000000"/>
              </a:solidFill>
              <a:latin typeface="Times New Roman"/>
              <a:ea typeface="Times New Roman"/>
              <a:cs typeface="Times New Roman"/>
              <a:sym typeface="Times New Roman"/>
            </a:endParaRPr>
          </a:p>
          <a:p>
            <a:pPr indent="0" lvl="0" marL="0" rtl="0" algn="ctr">
              <a:spcBef>
                <a:spcPts val="0"/>
              </a:spcBef>
              <a:spcAft>
                <a:spcPts val="0"/>
              </a:spcAft>
              <a:buSzPts val="990"/>
              <a:buNone/>
            </a:pPr>
            <a:r>
              <a:rPr lang="en" sz="3680">
                <a:solidFill>
                  <a:srgbClr val="000000"/>
                </a:solidFill>
                <a:latin typeface="Times New Roman"/>
                <a:ea typeface="Times New Roman"/>
                <a:cs typeface="Times New Roman"/>
                <a:sym typeface="Times New Roman"/>
              </a:rPr>
              <a:t>Introductory</a:t>
            </a:r>
            <a:r>
              <a:rPr lang="en" sz="3680">
                <a:solidFill>
                  <a:srgbClr val="000000"/>
                </a:solidFill>
                <a:latin typeface="Times New Roman"/>
                <a:ea typeface="Times New Roman"/>
                <a:cs typeface="Times New Roman"/>
                <a:sym typeface="Times New Roman"/>
              </a:rPr>
              <a:t> College CS Courses </a:t>
            </a:r>
            <a:endParaRPr sz="3680">
              <a:solidFill>
                <a:srgbClr val="000000"/>
              </a:solidFill>
              <a:latin typeface="Times New Roman"/>
              <a:ea typeface="Times New Roman"/>
              <a:cs typeface="Times New Roman"/>
              <a:sym typeface="Times New Roman"/>
            </a:endParaRPr>
          </a:p>
          <a:p>
            <a:pPr indent="0" lvl="0" marL="0" rtl="0" algn="ctr">
              <a:spcBef>
                <a:spcPts val="0"/>
              </a:spcBef>
              <a:spcAft>
                <a:spcPts val="0"/>
              </a:spcAft>
              <a:buSzPts val="990"/>
              <a:buNone/>
            </a:pPr>
            <a:r>
              <a:rPr lang="en" sz="3680">
                <a:solidFill>
                  <a:srgbClr val="000000"/>
                </a:solidFill>
                <a:latin typeface="Times New Roman"/>
                <a:ea typeface="Times New Roman"/>
                <a:cs typeface="Times New Roman"/>
                <a:sym typeface="Times New Roman"/>
              </a:rPr>
              <a:t>v. in Industry</a:t>
            </a:r>
            <a:endParaRPr sz="3680">
              <a:solidFill>
                <a:srgbClr val="000000"/>
              </a:solidFill>
              <a:latin typeface="Times New Roman"/>
              <a:ea typeface="Times New Roman"/>
              <a:cs typeface="Times New Roman"/>
              <a:sym typeface="Times New Roman"/>
            </a:endParaRPr>
          </a:p>
        </p:txBody>
      </p:sp>
      <p:sp>
        <p:nvSpPr>
          <p:cNvPr id="55" name="Google Shape;55;p13"/>
          <p:cNvSpPr txBox="1"/>
          <p:nvPr>
            <p:ph idx="1" type="subTitle"/>
          </p:nvPr>
        </p:nvSpPr>
        <p:spPr>
          <a:xfrm>
            <a:off x="311700" y="3544321"/>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700">
                <a:solidFill>
                  <a:srgbClr val="000000"/>
                </a:solidFill>
                <a:latin typeface="Calibri"/>
                <a:ea typeface="Calibri"/>
                <a:cs typeface="Calibri"/>
                <a:sym typeface="Calibri"/>
              </a:rPr>
              <a:t>Megan Kwok</a:t>
            </a:r>
            <a:endParaRPr b="1" sz="3700">
              <a:solidFill>
                <a:srgbClr val="000000"/>
              </a:solidFill>
              <a:latin typeface="Calibri"/>
              <a:ea typeface="Calibri"/>
              <a:cs typeface="Calibri"/>
              <a:sym typeface="Calibri"/>
            </a:endParaRPr>
          </a:p>
        </p:txBody>
      </p:sp>
      <p:sp>
        <p:nvSpPr>
          <p:cNvPr id="56" name="Google Shape;56;p13"/>
          <p:cNvSpPr txBox="1"/>
          <p:nvPr/>
        </p:nvSpPr>
        <p:spPr>
          <a:xfrm>
            <a:off x="4134000" y="3494812"/>
            <a:ext cx="876000" cy="14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dk2"/>
                </a:solidFill>
              </a:rPr>
              <a:t>***</a:t>
            </a:r>
            <a:endParaRPr b="1" sz="21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Terms</a:t>
            </a:r>
            <a:endParaRPr b="1" sz="2620">
              <a:latin typeface="Calibri"/>
              <a:ea typeface="Calibri"/>
              <a:cs typeface="Calibri"/>
              <a:sym typeface="Calibri"/>
            </a:endParaRPr>
          </a:p>
        </p:txBody>
      </p:sp>
      <p:sp>
        <p:nvSpPr>
          <p:cNvPr id="62" name="Google Shape;62;p14"/>
          <p:cNvSpPr txBox="1"/>
          <p:nvPr>
            <p:ph idx="1" type="body"/>
          </p:nvPr>
        </p:nvSpPr>
        <p:spPr>
          <a:xfrm>
            <a:off x="311700" y="1479000"/>
            <a:ext cx="8520600" cy="3090000"/>
          </a:xfrm>
          <a:prstGeom prst="rect">
            <a:avLst/>
          </a:prstGeom>
        </p:spPr>
        <p:txBody>
          <a:bodyPr anchorCtr="0" anchor="t" bIns="91425" lIns="91425" spcFirstLastPara="1" rIns="91425" wrap="square" tIns="91425">
            <a:normAutofit/>
          </a:bodyPr>
          <a:lstStyle/>
          <a:p>
            <a:pPr indent="-374650" lvl="0" marL="457200" rtl="0" algn="l">
              <a:lnSpc>
                <a:spcPct val="150000"/>
              </a:lnSpc>
              <a:spcBef>
                <a:spcPts val="0"/>
              </a:spcBef>
              <a:spcAft>
                <a:spcPts val="0"/>
              </a:spcAft>
              <a:buClr>
                <a:srgbClr val="000000"/>
              </a:buClr>
              <a:buSzPts val="2300"/>
              <a:buFont typeface="Times New Roman"/>
              <a:buAutoNum type="arabicParenR"/>
            </a:pPr>
            <a:r>
              <a:rPr lang="en" sz="2300">
                <a:solidFill>
                  <a:srgbClr val="000000"/>
                </a:solidFill>
                <a:highlight>
                  <a:srgbClr val="B6D7A8"/>
                </a:highlight>
                <a:latin typeface="Times New Roman"/>
                <a:ea typeface="Times New Roman"/>
                <a:cs typeface="Times New Roman"/>
                <a:sym typeface="Times New Roman"/>
              </a:rPr>
              <a:t>“Academic languages”</a:t>
            </a:r>
            <a:r>
              <a:rPr lang="en" sz="2300">
                <a:solidFill>
                  <a:srgbClr val="000000"/>
                </a:solidFill>
                <a:latin typeface="Times New Roman"/>
                <a:ea typeface="Times New Roman"/>
                <a:cs typeface="Times New Roman"/>
                <a:sym typeface="Times New Roman"/>
              </a:rPr>
              <a:t>: programming languages taught in introductory CS courses in college/university</a:t>
            </a:r>
            <a:endParaRPr sz="2300">
              <a:solidFill>
                <a:srgbClr val="000000"/>
              </a:solidFill>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t/>
            </a:r>
            <a:endParaRPr sz="600">
              <a:solidFill>
                <a:srgbClr val="000000"/>
              </a:solidFill>
              <a:latin typeface="Times New Roman"/>
              <a:ea typeface="Times New Roman"/>
              <a:cs typeface="Times New Roman"/>
              <a:sym typeface="Times New Roman"/>
            </a:endParaRPr>
          </a:p>
          <a:p>
            <a:pPr indent="-374650" lvl="0" marL="457200" rtl="0" algn="l">
              <a:lnSpc>
                <a:spcPct val="150000"/>
              </a:lnSpc>
              <a:spcBef>
                <a:spcPts val="1200"/>
              </a:spcBef>
              <a:spcAft>
                <a:spcPts val="0"/>
              </a:spcAft>
              <a:buClr>
                <a:srgbClr val="000000"/>
              </a:buClr>
              <a:buSzPts val="2300"/>
              <a:buFont typeface="Times New Roman"/>
              <a:buAutoNum type="arabicParenR"/>
            </a:pPr>
            <a:r>
              <a:rPr lang="en" sz="2300">
                <a:solidFill>
                  <a:srgbClr val="000000"/>
                </a:solidFill>
                <a:highlight>
                  <a:srgbClr val="F9CB9C"/>
                </a:highlight>
                <a:latin typeface="Times New Roman"/>
                <a:ea typeface="Times New Roman"/>
                <a:cs typeface="Times New Roman"/>
                <a:sym typeface="Times New Roman"/>
              </a:rPr>
              <a:t>“Industry languages”</a:t>
            </a:r>
            <a:r>
              <a:rPr lang="en" sz="2300">
                <a:solidFill>
                  <a:srgbClr val="000000"/>
                </a:solidFill>
                <a:latin typeface="Times New Roman"/>
                <a:ea typeface="Times New Roman"/>
                <a:cs typeface="Times New Roman"/>
                <a:sym typeface="Times New Roman"/>
              </a:rPr>
              <a:t>: programming languages used in the professional computer science field</a:t>
            </a:r>
            <a:endParaRPr sz="23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1576025" y="1392825"/>
            <a:ext cx="7489200" cy="328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000000"/>
                </a:solidFill>
                <a:latin typeface="Times New Roman"/>
                <a:ea typeface="Times New Roman"/>
                <a:cs typeface="Times New Roman"/>
                <a:sym typeface="Times New Roman"/>
              </a:rPr>
              <a:t>Industry languages influenced academic languages</a:t>
            </a:r>
            <a:endParaRPr sz="23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2300">
                <a:solidFill>
                  <a:schemeClr val="dk1"/>
                </a:solidFill>
                <a:latin typeface="Times New Roman"/>
                <a:ea typeface="Times New Roman"/>
                <a:cs typeface="Times New Roman"/>
                <a:sym typeface="Times New Roman"/>
              </a:rPr>
              <a:t>Python, Java, JavaScript, C, C#, C++, Golang, SQL, Clojure, Typescript, Ruby, Rust, PHP, Swift, Perl, Visual Basic, MatLab, Delphi, Scratch, Racket/Scheme, NetLogo, D, etc…</a:t>
            </a:r>
            <a:endParaRPr sz="2300">
              <a:solidFill>
                <a:srgbClr val="000000"/>
              </a:solidFill>
              <a:latin typeface="Times New Roman"/>
              <a:ea typeface="Times New Roman"/>
              <a:cs typeface="Times New Roman"/>
              <a:sym typeface="Times New Roman"/>
            </a:endParaRPr>
          </a:p>
        </p:txBody>
      </p:sp>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Background</a:t>
            </a:r>
            <a:endParaRPr b="1" sz="2620">
              <a:latin typeface="Calibri"/>
              <a:ea typeface="Calibri"/>
              <a:cs typeface="Calibri"/>
              <a:sym typeface="Calibri"/>
            </a:endParaRPr>
          </a:p>
        </p:txBody>
      </p:sp>
      <p:sp>
        <p:nvSpPr>
          <p:cNvPr id="69" name="Google Shape;69;p15"/>
          <p:cNvSpPr txBox="1"/>
          <p:nvPr/>
        </p:nvSpPr>
        <p:spPr>
          <a:xfrm>
            <a:off x="311700" y="1188650"/>
            <a:ext cx="927300" cy="3407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300">
                <a:latin typeface="Times New Roman"/>
                <a:ea typeface="Times New Roman"/>
                <a:cs typeface="Times New Roman"/>
                <a:sym typeface="Times New Roman"/>
              </a:rPr>
              <a:t>1960s</a:t>
            </a:r>
            <a:endParaRPr sz="2300">
              <a:latin typeface="Times New Roman"/>
              <a:ea typeface="Times New Roman"/>
              <a:cs typeface="Times New Roman"/>
              <a:sym typeface="Times New Roman"/>
            </a:endParaRPr>
          </a:p>
          <a:p>
            <a:pPr indent="0" lvl="0" marL="0" rtl="0" algn="r">
              <a:spcBef>
                <a:spcPts val="0"/>
              </a:spcBef>
              <a:spcAft>
                <a:spcPts val="0"/>
              </a:spcAft>
              <a:buNone/>
            </a:pPr>
            <a:r>
              <a:t/>
            </a:r>
            <a:endParaRPr sz="2300">
              <a:latin typeface="Times New Roman"/>
              <a:ea typeface="Times New Roman"/>
              <a:cs typeface="Times New Roman"/>
              <a:sym typeface="Times New Roman"/>
            </a:endParaRPr>
          </a:p>
          <a:p>
            <a:pPr indent="0" lvl="0" marL="0" rtl="0" algn="r">
              <a:spcBef>
                <a:spcPts val="0"/>
              </a:spcBef>
              <a:spcAft>
                <a:spcPts val="0"/>
              </a:spcAft>
              <a:buNone/>
            </a:pPr>
            <a:r>
              <a:t/>
            </a:r>
            <a:endParaRPr sz="2300">
              <a:latin typeface="Times New Roman"/>
              <a:ea typeface="Times New Roman"/>
              <a:cs typeface="Times New Roman"/>
              <a:sym typeface="Times New Roman"/>
            </a:endParaRPr>
          </a:p>
          <a:p>
            <a:pPr indent="0" lvl="0" marL="0" rtl="0" algn="r">
              <a:spcBef>
                <a:spcPts val="0"/>
              </a:spcBef>
              <a:spcAft>
                <a:spcPts val="0"/>
              </a:spcAft>
              <a:buNone/>
            </a:pPr>
            <a:r>
              <a:t/>
            </a:r>
            <a:endParaRPr sz="2300">
              <a:latin typeface="Times New Roman"/>
              <a:ea typeface="Times New Roman"/>
              <a:cs typeface="Times New Roman"/>
              <a:sym typeface="Times New Roman"/>
            </a:endParaRPr>
          </a:p>
          <a:p>
            <a:pPr indent="0" lvl="0" marL="0" rtl="0" algn="r">
              <a:spcBef>
                <a:spcPts val="0"/>
              </a:spcBef>
              <a:spcAft>
                <a:spcPts val="0"/>
              </a:spcAft>
              <a:buNone/>
            </a:pPr>
            <a:r>
              <a:rPr lang="en" sz="2300">
                <a:latin typeface="Times New Roman"/>
                <a:ea typeface="Times New Roman"/>
                <a:cs typeface="Times New Roman"/>
                <a:sym typeface="Times New Roman"/>
              </a:rPr>
              <a:t>Now</a:t>
            </a:r>
            <a:endParaRPr sz="2300">
              <a:latin typeface="Times New Roman"/>
              <a:ea typeface="Times New Roman"/>
              <a:cs typeface="Times New Roman"/>
              <a:sym typeface="Times New Roman"/>
            </a:endParaRPr>
          </a:p>
          <a:p>
            <a:pPr indent="0" lvl="0" marL="0" rtl="0" algn="r">
              <a:spcBef>
                <a:spcPts val="0"/>
              </a:spcBef>
              <a:spcAft>
                <a:spcPts val="0"/>
              </a:spcAft>
              <a:buNone/>
            </a:pPr>
            <a:r>
              <a:t/>
            </a:r>
            <a:endParaRPr sz="2300">
              <a:latin typeface="Times New Roman"/>
              <a:ea typeface="Times New Roman"/>
              <a:cs typeface="Times New Roman"/>
              <a:sym typeface="Times New Roman"/>
            </a:endParaRPr>
          </a:p>
          <a:p>
            <a:pPr indent="0" lvl="0" marL="0" rtl="0" algn="r">
              <a:spcBef>
                <a:spcPts val="0"/>
              </a:spcBef>
              <a:spcAft>
                <a:spcPts val="0"/>
              </a:spcAft>
              <a:buNone/>
            </a:pPr>
            <a:r>
              <a:t/>
            </a:r>
            <a:endParaRPr sz="2300">
              <a:latin typeface="Times New Roman"/>
              <a:ea typeface="Times New Roman"/>
              <a:cs typeface="Times New Roman"/>
              <a:sym typeface="Times New Roman"/>
            </a:endParaRPr>
          </a:p>
          <a:p>
            <a:pPr indent="0" lvl="0" marL="0" rtl="0" algn="r">
              <a:spcBef>
                <a:spcPts val="0"/>
              </a:spcBef>
              <a:spcAft>
                <a:spcPts val="0"/>
              </a:spcAft>
              <a:buNone/>
            </a:pPr>
            <a:r>
              <a:t/>
            </a:r>
            <a:endParaRPr sz="2300">
              <a:latin typeface="Times New Roman"/>
              <a:ea typeface="Times New Roman"/>
              <a:cs typeface="Times New Roman"/>
              <a:sym typeface="Times New Roman"/>
            </a:endParaRPr>
          </a:p>
        </p:txBody>
      </p:sp>
      <p:sp>
        <p:nvSpPr>
          <p:cNvPr id="70" name="Google Shape;70;p15"/>
          <p:cNvSpPr/>
          <p:nvPr/>
        </p:nvSpPr>
        <p:spPr>
          <a:xfrm>
            <a:off x="1440363" y="1188650"/>
            <a:ext cx="13200" cy="3564900"/>
          </a:xfrm>
          <a:prstGeom prst="rect">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latin typeface="Times New Roman"/>
              <a:ea typeface="Times New Roman"/>
              <a:cs typeface="Times New Roman"/>
              <a:sym typeface="Times New Roman"/>
            </a:endParaRPr>
          </a:p>
        </p:txBody>
      </p:sp>
      <p:sp>
        <p:nvSpPr>
          <p:cNvPr id="71" name="Google Shape;71;p15"/>
          <p:cNvSpPr/>
          <p:nvPr/>
        </p:nvSpPr>
        <p:spPr>
          <a:xfrm>
            <a:off x="1260525" y="1660800"/>
            <a:ext cx="372900" cy="14400"/>
          </a:xfrm>
          <a:prstGeom prst="rect">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5"/>
          <p:cNvSpPr/>
          <p:nvPr/>
        </p:nvSpPr>
        <p:spPr>
          <a:xfrm>
            <a:off x="1260525" y="3091687"/>
            <a:ext cx="372900" cy="14400"/>
          </a:xfrm>
          <a:prstGeom prst="rect">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Methods &amp; Materials</a:t>
            </a:r>
            <a:endParaRPr b="1" sz="2620">
              <a:latin typeface="Calibri"/>
              <a:ea typeface="Calibri"/>
              <a:cs typeface="Calibri"/>
              <a:sym typeface="Calibri"/>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solidFill>
                  <a:srgbClr val="000000"/>
                </a:solidFill>
                <a:latin typeface="Times New Roman"/>
                <a:ea typeface="Times New Roman"/>
                <a:cs typeface="Times New Roman"/>
                <a:sym typeface="Times New Roman"/>
              </a:rPr>
              <a:t>Timeframe:</a:t>
            </a:r>
            <a:endParaRPr sz="2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2200">
                <a:solidFill>
                  <a:srgbClr val="000000"/>
                </a:solidFill>
                <a:highlight>
                  <a:srgbClr val="F6B26B"/>
                </a:highlight>
                <a:latin typeface="Times New Roman"/>
                <a:ea typeface="Times New Roman"/>
                <a:cs typeface="Times New Roman"/>
                <a:sym typeface="Times New Roman"/>
              </a:rPr>
              <a:t>Industry: </a:t>
            </a:r>
            <a:endParaRPr sz="2200">
              <a:solidFill>
                <a:srgbClr val="000000"/>
              </a:solidFill>
              <a:highlight>
                <a:srgbClr val="F6B26B"/>
              </a:highlight>
              <a:latin typeface="Times New Roman"/>
              <a:ea typeface="Times New Roman"/>
              <a:cs typeface="Times New Roman"/>
              <a:sym typeface="Times New Roman"/>
            </a:endParaRPr>
          </a:p>
          <a:p>
            <a:pPr indent="0" lvl="0" marL="0" rtl="0" algn="l">
              <a:spcBef>
                <a:spcPts val="1200"/>
              </a:spcBef>
              <a:spcAft>
                <a:spcPts val="0"/>
              </a:spcAft>
              <a:buNone/>
            </a:pPr>
            <a:r>
              <a:t/>
            </a:r>
            <a:endParaRPr sz="2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22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rPr lang="en" sz="2200">
                <a:solidFill>
                  <a:srgbClr val="000000"/>
                </a:solidFill>
                <a:highlight>
                  <a:srgbClr val="A9CD9A"/>
                </a:highlight>
                <a:latin typeface="Times New Roman"/>
                <a:ea typeface="Times New Roman"/>
                <a:cs typeface="Times New Roman"/>
                <a:sym typeface="Times New Roman"/>
              </a:rPr>
              <a:t>Academia:</a:t>
            </a:r>
            <a:endParaRPr sz="2200">
              <a:solidFill>
                <a:srgbClr val="000000"/>
              </a:solidFill>
              <a:highlight>
                <a:srgbClr val="A9CD9A"/>
              </a:highlight>
              <a:latin typeface="Times New Roman"/>
              <a:ea typeface="Times New Roman"/>
              <a:cs typeface="Times New Roman"/>
              <a:sym typeface="Times New Roman"/>
            </a:endParaRPr>
          </a:p>
        </p:txBody>
      </p:sp>
      <p:sp>
        <p:nvSpPr>
          <p:cNvPr id="79" name="Google Shape;79;p16"/>
          <p:cNvSpPr/>
          <p:nvPr/>
        </p:nvSpPr>
        <p:spPr>
          <a:xfrm>
            <a:off x="460425" y="2315225"/>
            <a:ext cx="1820400" cy="684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latin typeface="Times New Roman"/>
                <a:ea typeface="Times New Roman"/>
                <a:cs typeface="Times New Roman"/>
                <a:sym typeface="Times New Roman"/>
              </a:rPr>
              <a:t>StackOverflow DevSurveys</a:t>
            </a:r>
            <a:endParaRPr sz="1700">
              <a:latin typeface="Times New Roman"/>
              <a:ea typeface="Times New Roman"/>
              <a:cs typeface="Times New Roman"/>
              <a:sym typeface="Times New Roman"/>
            </a:endParaRPr>
          </a:p>
        </p:txBody>
      </p:sp>
      <p:sp>
        <p:nvSpPr>
          <p:cNvPr id="80" name="Google Shape;80;p16"/>
          <p:cNvSpPr/>
          <p:nvPr/>
        </p:nvSpPr>
        <p:spPr>
          <a:xfrm>
            <a:off x="2484601" y="2315225"/>
            <a:ext cx="1820400" cy="684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Times New Roman"/>
                <a:ea typeface="Times New Roman"/>
                <a:cs typeface="Times New Roman"/>
                <a:sym typeface="Times New Roman"/>
              </a:rPr>
              <a:t>GitHub</a:t>
            </a:r>
            <a:endParaRPr sz="1800">
              <a:latin typeface="Times New Roman"/>
              <a:ea typeface="Times New Roman"/>
              <a:cs typeface="Times New Roman"/>
              <a:sym typeface="Times New Roman"/>
            </a:endParaRPr>
          </a:p>
        </p:txBody>
      </p:sp>
      <p:sp>
        <p:nvSpPr>
          <p:cNvPr id="81" name="Google Shape;81;p16"/>
          <p:cNvSpPr/>
          <p:nvPr/>
        </p:nvSpPr>
        <p:spPr>
          <a:xfrm>
            <a:off x="4508778" y="2315225"/>
            <a:ext cx="1820400" cy="684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Times New Roman"/>
                <a:ea typeface="Times New Roman"/>
                <a:cs typeface="Times New Roman"/>
                <a:sym typeface="Times New Roman"/>
              </a:rPr>
              <a:t>Google Trends</a:t>
            </a:r>
            <a:endParaRPr sz="1800">
              <a:latin typeface="Times New Roman"/>
              <a:ea typeface="Times New Roman"/>
              <a:cs typeface="Times New Roman"/>
              <a:sym typeface="Times New Roman"/>
            </a:endParaRPr>
          </a:p>
        </p:txBody>
      </p:sp>
      <p:sp>
        <p:nvSpPr>
          <p:cNvPr id="82" name="Google Shape;82;p16"/>
          <p:cNvSpPr/>
          <p:nvPr/>
        </p:nvSpPr>
        <p:spPr>
          <a:xfrm>
            <a:off x="6532954" y="2315225"/>
            <a:ext cx="1820400" cy="684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Times New Roman"/>
                <a:ea typeface="Times New Roman"/>
                <a:cs typeface="Times New Roman"/>
                <a:sym typeface="Times New Roman"/>
              </a:rPr>
              <a:t>Internet Archive</a:t>
            </a:r>
            <a:endParaRPr sz="1800">
              <a:latin typeface="Times New Roman"/>
              <a:ea typeface="Times New Roman"/>
              <a:cs typeface="Times New Roman"/>
              <a:sym typeface="Times New Roman"/>
            </a:endParaRPr>
          </a:p>
        </p:txBody>
      </p:sp>
      <p:sp>
        <p:nvSpPr>
          <p:cNvPr id="83" name="Google Shape;83;p16"/>
          <p:cNvSpPr/>
          <p:nvPr/>
        </p:nvSpPr>
        <p:spPr>
          <a:xfrm>
            <a:off x="460424" y="3884875"/>
            <a:ext cx="3959700" cy="684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Times New Roman"/>
                <a:ea typeface="Times New Roman"/>
                <a:cs typeface="Times New Roman"/>
                <a:sym typeface="Times New Roman"/>
              </a:rPr>
              <a:t>survey designed and sent to professors</a:t>
            </a:r>
            <a:endParaRPr sz="1800">
              <a:latin typeface="Times New Roman"/>
              <a:ea typeface="Times New Roman"/>
              <a:cs typeface="Times New Roman"/>
              <a:sym typeface="Times New Roman"/>
            </a:endParaRPr>
          </a:p>
        </p:txBody>
      </p:sp>
      <p:sp>
        <p:nvSpPr>
          <p:cNvPr id="84" name="Google Shape;84;p16"/>
          <p:cNvSpPr/>
          <p:nvPr/>
        </p:nvSpPr>
        <p:spPr>
          <a:xfrm>
            <a:off x="1860850" y="1152475"/>
            <a:ext cx="1820400" cy="572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Times New Roman"/>
                <a:ea typeface="Times New Roman"/>
                <a:cs typeface="Times New Roman"/>
                <a:sym typeface="Times New Roman"/>
              </a:rPr>
              <a:t>2010 - 2024</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Academic Survey</a:t>
            </a:r>
            <a:r>
              <a:rPr b="1" lang="en" sz="1600">
                <a:latin typeface="Calibri"/>
                <a:ea typeface="Calibri"/>
                <a:cs typeface="Calibri"/>
                <a:sym typeface="Calibri"/>
              </a:rPr>
              <a:t>	(Google Forms)</a:t>
            </a:r>
            <a:endParaRPr b="1" sz="1600">
              <a:latin typeface="Calibri"/>
              <a:ea typeface="Calibri"/>
              <a:cs typeface="Calibri"/>
              <a:sym typeface="Calibri"/>
            </a:endParaRPr>
          </a:p>
        </p:txBody>
      </p:sp>
      <p:sp>
        <p:nvSpPr>
          <p:cNvPr id="90" name="Google Shape;90;p17"/>
          <p:cNvSpPr/>
          <p:nvPr/>
        </p:nvSpPr>
        <p:spPr>
          <a:xfrm>
            <a:off x="416700" y="1394400"/>
            <a:ext cx="3988200" cy="1539000"/>
          </a:xfrm>
          <a:prstGeom prst="rect">
            <a:avLst/>
          </a:prstGeom>
          <a:solidFill>
            <a:schemeClr val="lt2"/>
          </a:solidFill>
          <a:ln cap="flat" cmpd="sng" w="10250">
            <a:solidFill>
              <a:schemeClr val="dk2"/>
            </a:solidFill>
            <a:prstDash val="solid"/>
            <a:round/>
            <a:headEnd len="sm" w="sm" type="none"/>
            <a:tailEnd len="sm" w="sm" type="none"/>
          </a:ln>
        </p:spPr>
        <p:txBody>
          <a:bodyPr anchorCtr="0" anchor="ctr" bIns="98325" lIns="98325" spcFirstLastPara="1" rIns="98325" wrap="square" tIns="98325">
            <a:noAutofit/>
          </a:bodyPr>
          <a:lstStyle/>
          <a:p>
            <a:pPr indent="0" lvl="0" marL="0" rtl="0" algn="ctr">
              <a:lnSpc>
                <a:spcPct val="115000"/>
              </a:lnSpc>
              <a:spcBef>
                <a:spcPts val="0"/>
              </a:spcBef>
              <a:spcAft>
                <a:spcPts val="0"/>
              </a:spcAft>
              <a:buNone/>
            </a:pPr>
            <a:r>
              <a:rPr lang="en" sz="2300">
                <a:latin typeface="Times New Roman"/>
                <a:ea typeface="Times New Roman"/>
                <a:cs typeface="Times New Roman"/>
                <a:sym typeface="Times New Roman"/>
              </a:rPr>
              <a:t>Languages taught</a:t>
            </a:r>
            <a:endParaRPr sz="23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t/>
            </a:r>
            <a:endParaRPr sz="6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lang="en">
                <a:latin typeface="Times New Roman"/>
                <a:ea typeface="Times New Roman"/>
                <a:cs typeface="Times New Roman"/>
                <a:sym typeface="Times New Roman"/>
              </a:rPr>
              <a:t>(Python, Java, C, C++, C#, Rust, Haskell, Alice, Ruby, Scala, Racket, JavaScript, others)</a:t>
            </a:r>
            <a:endParaRPr>
              <a:latin typeface="Times New Roman"/>
              <a:ea typeface="Times New Roman"/>
              <a:cs typeface="Times New Roman"/>
              <a:sym typeface="Times New Roman"/>
            </a:endParaRPr>
          </a:p>
        </p:txBody>
      </p:sp>
      <p:sp>
        <p:nvSpPr>
          <p:cNvPr id="91" name="Google Shape;91;p17"/>
          <p:cNvSpPr/>
          <p:nvPr/>
        </p:nvSpPr>
        <p:spPr>
          <a:xfrm>
            <a:off x="4739100" y="1394401"/>
            <a:ext cx="3988200" cy="1539000"/>
          </a:xfrm>
          <a:prstGeom prst="rect">
            <a:avLst/>
          </a:prstGeom>
          <a:solidFill>
            <a:schemeClr val="lt2"/>
          </a:solidFill>
          <a:ln cap="flat" cmpd="sng" w="10250">
            <a:solidFill>
              <a:schemeClr val="dk2"/>
            </a:solidFill>
            <a:prstDash val="solid"/>
            <a:round/>
            <a:headEnd len="sm" w="sm" type="none"/>
            <a:tailEnd len="sm" w="sm" type="none"/>
          </a:ln>
        </p:spPr>
        <p:txBody>
          <a:bodyPr anchorCtr="0" anchor="ctr" bIns="98325" lIns="98325" spcFirstLastPara="1" rIns="98325" wrap="square" tIns="98325">
            <a:noAutofit/>
          </a:bodyPr>
          <a:lstStyle/>
          <a:p>
            <a:pPr indent="0" lvl="0" marL="0" rtl="0" algn="ctr">
              <a:lnSpc>
                <a:spcPct val="115000"/>
              </a:lnSpc>
              <a:spcBef>
                <a:spcPts val="0"/>
              </a:spcBef>
              <a:spcAft>
                <a:spcPts val="0"/>
              </a:spcAft>
              <a:buNone/>
            </a:pPr>
            <a:r>
              <a:rPr lang="en" sz="2300">
                <a:latin typeface="Times New Roman"/>
                <a:ea typeface="Times New Roman"/>
                <a:cs typeface="Times New Roman"/>
                <a:sym typeface="Times New Roman"/>
              </a:rPr>
              <a:t>Paradigms</a:t>
            </a:r>
            <a:r>
              <a:rPr lang="en" sz="2300">
                <a:latin typeface="Times New Roman"/>
                <a:ea typeface="Times New Roman"/>
                <a:cs typeface="Times New Roman"/>
                <a:sym typeface="Times New Roman"/>
              </a:rPr>
              <a:t> followed</a:t>
            </a:r>
            <a:endParaRPr sz="23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t/>
            </a:r>
            <a:endParaRPr sz="600">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lang="en">
                <a:latin typeface="Times New Roman"/>
                <a:ea typeface="Times New Roman"/>
                <a:cs typeface="Times New Roman"/>
                <a:sym typeface="Times New Roman"/>
              </a:rPr>
              <a:t>(Object-Oriented, Functional, </a:t>
            </a:r>
            <a:r>
              <a:rPr lang="en">
                <a:latin typeface="Times New Roman"/>
                <a:ea typeface="Times New Roman"/>
                <a:cs typeface="Times New Roman"/>
                <a:sym typeface="Times New Roman"/>
              </a:rPr>
              <a:t>Declarative</a:t>
            </a:r>
            <a:r>
              <a:rPr lang="en">
                <a:latin typeface="Times New Roman"/>
                <a:ea typeface="Times New Roman"/>
                <a:cs typeface="Times New Roman"/>
                <a:sym typeface="Times New Roman"/>
              </a:rPr>
              <a:t>, Imperative, Procedural, others)</a:t>
            </a:r>
            <a:endParaRPr>
              <a:latin typeface="Times New Roman"/>
              <a:ea typeface="Times New Roman"/>
              <a:cs typeface="Times New Roman"/>
              <a:sym typeface="Times New Roman"/>
            </a:endParaRPr>
          </a:p>
        </p:txBody>
      </p:sp>
      <p:sp>
        <p:nvSpPr>
          <p:cNvPr id="92" name="Google Shape;92;p17"/>
          <p:cNvSpPr/>
          <p:nvPr/>
        </p:nvSpPr>
        <p:spPr>
          <a:xfrm>
            <a:off x="416700" y="3270480"/>
            <a:ext cx="3988200" cy="1264500"/>
          </a:xfrm>
          <a:prstGeom prst="rect">
            <a:avLst/>
          </a:prstGeom>
          <a:solidFill>
            <a:schemeClr val="lt2"/>
          </a:solidFill>
          <a:ln cap="flat" cmpd="sng" w="10250">
            <a:solidFill>
              <a:schemeClr val="dk2"/>
            </a:solidFill>
            <a:prstDash val="solid"/>
            <a:round/>
            <a:headEnd len="sm" w="sm" type="none"/>
            <a:tailEnd len="sm" w="sm" type="none"/>
          </a:ln>
        </p:spPr>
        <p:txBody>
          <a:bodyPr anchorCtr="0" anchor="ctr" bIns="98325" lIns="98325" spcFirstLastPara="1" rIns="98325" wrap="square" tIns="98325">
            <a:noAutofit/>
          </a:bodyPr>
          <a:lstStyle/>
          <a:p>
            <a:pPr indent="0" lvl="0" marL="0" rtl="0" algn="ctr">
              <a:spcBef>
                <a:spcPts val="0"/>
              </a:spcBef>
              <a:spcAft>
                <a:spcPts val="0"/>
              </a:spcAft>
              <a:buNone/>
            </a:pPr>
            <a:r>
              <a:rPr lang="en" sz="2300">
                <a:latin typeface="Times New Roman"/>
                <a:ea typeface="Times New Roman"/>
                <a:cs typeface="Times New Roman"/>
                <a:sym typeface="Times New Roman"/>
              </a:rPr>
              <a:t>Language</a:t>
            </a:r>
            <a:r>
              <a:rPr lang="en" sz="2300">
                <a:latin typeface="Times New Roman"/>
                <a:ea typeface="Times New Roman"/>
                <a:cs typeface="Times New Roman"/>
                <a:sym typeface="Times New Roman"/>
              </a:rPr>
              <a:t> effectiveness</a:t>
            </a:r>
            <a:endParaRPr sz="2300">
              <a:latin typeface="Times New Roman"/>
              <a:ea typeface="Times New Roman"/>
              <a:cs typeface="Times New Roman"/>
              <a:sym typeface="Times New Roman"/>
            </a:endParaRPr>
          </a:p>
          <a:p>
            <a:pPr indent="0" lvl="0" marL="0" rtl="0" algn="l">
              <a:spcBef>
                <a:spcPts val="0"/>
              </a:spcBef>
              <a:spcAft>
                <a:spcPts val="0"/>
              </a:spcAft>
              <a:buNone/>
            </a:pPr>
            <a:r>
              <a:rPr lang="en" sz="2300">
                <a:latin typeface="Times New Roman"/>
                <a:ea typeface="Times New Roman"/>
                <a:cs typeface="Times New Roman"/>
                <a:sym typeface="Times New Roman"/>
              </a:rPr>
              <a:t> </a:t>
            </a:r>
            <a:r>
              <a:rPr lang="en">
                <a:latin typeface="Times New Roman"/>
                <a:ea typeface="Times New Roman"/>
                <a:cs typeface="Times New Roman"/>
                <a:sym typeface="Times New Roman"/>
              </a:rPr>
              <a:t> 1						 	       10</a:t>
            </a:r>
            <a:endParaRPr>
              <a:latin typeface="Times New Roman"/>
              <a:ea typeface="Times New Roman"/>
              <a:cs typeface="Times New Roman"/>
              <a:sym typeface="Times New Roman"/>
            </a:endParaRPr>
          </a:p>
          <a:p>
            <a:pPr indent="0" lvl="0" marL="0" rtl="0" algn="l">
              <a:spcBef>
                <a:spcPts val="0"/>
              </a:spcBef>
              <a:spcAft>
                <a:spcPts val="0"/>
              </a:spcAft>
              <a:buNone/>
            </a:pPr>
            <a:r>
              <a:t/>
            </a:r>
            <a:endParaRPr sz="300">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Low							     High</a:t>
            </a:r>
            <a:endParaRPr>
              <a:latin typeface="Times New Roman"/>
              <a:ea typeface="Times New Roman"/>
              <a:cs typeface="Times New Roman"/>
              <a:sym typeface="Times New Roman"/>
            </a:endParaRPr>
          </a:p>
        </p:txBody>
      </p:sp>
      <p:sp>
        <p:nvSpPr>
          <p:cNvPr id="93" name="Google Shape;93;p17"/>
          <p:cNvSpPr/>
          <p:nvPr/>
        </p:nvSpPr>
        <p:spPr>
          <a:xfrm>
            <a:off x="4739099" y="3270480"/>
            <a:ext cx="3988200" cy="1264500"/>
          </a:xfrm>
          <a:prstGeom prst="rect">
            <a:avLst/>
          </a:prstGeom>
          <a:solidFill>
            <a:schemeClr val="lt2"/>
          </a:solidFill>
          <a:ln cap="flat" cmpd="sng" w="10250">
            <a:solidFill>
              <a:schemeClr val="dk2"/>
            </a:solidFill>
            <a:prstDash val="solid"/>
            <a:round/>
            <a:headEnd len="sm" w="sm" type="none"/>
            <a:tailEnd len="sm" w="sm" type="none"/>
          </a:ln>
        </p:spPr>
        <p:txBody>
          <a:bodyPr anchorCtr="0" anchor="ctr" bIns="98325" lIns="98325" spcFirstLastPara="1" rIns="98325" wrap="square" tIns="98325">
            <a:noAutofit/>
          </a:bodyPr>
          <a:lstStyle/>
          <a:p>
            <a:pPr indent="0" lvl="0" marL="0" rtl="0" algn="ctr">
              <a:spcBef>
                <a:spcPts val="0"/>
              </a:spcBef>
              <a:spcAft>
                <a:spcPts val="0"/>
              </a:spcAft>
              <a:buNone/>
            </a:pPr>
            <a:r>
              <a:rPr lang="en" sz="2300">
                <a:latin typeface="Times New Roman"/>
                <a:ea typeface="Times New Roman"/>
                <a:cs typeface="Times New Roman"/>
                <a:sym typeface="Times New Roman"/>
              </a:rPr>
              <a:t>Feedback</a:t>
            </a:r>
            <a:endParaRPr>
              <a:latin typeface="Times New Roman"/>
              <a:ea typeface="Times New Roman"/>
              <a:cs typeface="Times New Roman"/>
              <a:sym typeface="Times New Roman"/>
            </a:endParaRPr>
          </a:p>
        </p:txBody>
      </p:sp>
      <p:sp>
        <p:nvSpPr>
          <p:cNvPr id="94" name="Google Shape;94;p17"/>
          <p:cNvSpPr/>
          <p:nvPr/>
        </p:nvSpPr>
        <p:spPr>
          <a:xfrm>
            <a:off x="596100" y="4124138"/>
            <a:ext cx="3629400" cy="49200"/>
          </a:xfrm>
          <a:prstGeom prst="leftRightArrow">
            <a:avLst>
              <a:gd fmla="val 50000" name="adj1"/>
              <a:gd fmla="val 50000" name="adj2"/>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98" name="Shape 98"/>
        <p:cNvGrpSpPr/>
        <p:nvPr/>
      </p:nvGrpSpPr>
      <p:grpSpPr>
        <a:xfrm>
          <a:off x="0" y="0"/>
          <a:ext cx="0" cy="0"/>
          <a:chOff x="0" y="0"/>
          <a:chExt cx="0" cy="0"/>
        </a:xfrm>
      </p:grpSpPr>
      <p:pic>
        <p:nvPicPr>
          <p:cNvPr id="99" name="Google Shape;99;p18" title="Chart"/>
          <p:cNvPicPr preferRelativeResize="0"/>
          <p:nvPr/>
        </p:nvPicPr>
        <p:blipFill rotWithShape="1">
          <a:blip r:embed="rId3">
            <a:alphaModFix/>
          </a:blip>
          <a:srcRect b="2669" l="2872" r="2313" t="2651"/>
          <a:stretch/>
        </p:blipFill>
        <p:spPr>
          <a:xfrm>
            <a:off x="1376025" y="679475"/>
            <a:ext cx="6858675" cy="4235201"/>
          </a:xfrm>
          <a:prstGeom prst="rect">
            <a:avLst/>
          </a:prstGeom>
          <a:noFill/>
          <a:ln>
            <a:noFill/>
          </a:ln>
        </p:spPr>
      </p:pic>
      <p:sp>
        <p:nvSpPr>
          <p:cNvPr id="100" name="Google Shape;100;p18"/>
          <p:cNvSpPr txBox="1"/>
          <p:nvPr>
            <p:ph type="title"/>
          </p:nvPr>
        </p:nvSpPr>
        <p:spPr>
          <a:xfrm>
            <a:off x="311700" y="10676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20">
                <a:solidFill>
                  <a:srgbClr val="000000"/>
                </a:solidFill>
                <a:latin typeface="Calibri"/>
                <a:ea typeface="Calibri"/>
                <a:cs typeface="Calibri"/>
                <a:sym typeface="Calibri"/>
              </a:rPr>
              <a:t>Academic Survey - </a:t>
            </a:r>
            <a:r>
              <a:rPr b="1" lang="en" sz="2620">
                <a:solidFill>
                  <a:srgbClr val="000000"/>
                </a:solidFill>
                <a:latin typeface="Calibri"/>
                <a:ea typeface="Calibri"/>
                <a:cs typeface="Calibri"/>
                <a:sym typeface="Calibri"/>
              </a:rPr>
              <a:t>Languages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CB9C"/>
        </a:solidFill>
      </p:bgPr>
    </p:bg>
    <p:spTree>
      <p:nvGrpSpPr>
        <p:cNvPr id="104" name="Shape 104"/>
        <p:cNvGrpSpPr/>
        <p:nvPr/>
      </p:nvGrpSpPr>
      <p:grpSpPr>
        <a:xfrm>
          <a:off x="0" y="0"/>
          <a:ext cx="0" cy="0"/>
          <a:chOff x="0" y="0"/>
          <a:chExt cx="0" cy="0"/>
        </a:xfrm>
      </p:grpSpPr>
      <p:pic>
        <p:nvPicPr>
          <p:cNvPr id="105" name="Google Shape;105;p19" title="Chart"/>
          <p:cNvPicPr preferRelativeResize="0"/>
          <p:nvPr/>
        </p:nvPicPr>
        <p:blipFill>
          <a:blip r:embed="rId3">
            <a:alphaModFix/>
          </a:blip>
          <a:stretch>
            <a:fillRect/>
          </a:stretch>
        </p:blipFill>
        <p:spPr>
          <a:xfrm>
            <a:off x="4543915" y="1829365"/>
            <a:ext cx="4691484" cy="2994746"/>
          </a:xfrm>
          <a:prstGeom prst="rect">
            <a:avLst/>
          </a:prstGeom>
          <a:noFill/>
          <a:ln>
            <a:noFill/>
          </a:ln>
        </p:spPr>
      </p:pic>
      <p:sp>
        <p:nvSpPr>
          <p:cNvPr id="106" name="Google Shape;106;p19"/>
          <p:cNvSpPr txBox="1"/>
          <p:nvPr>
            <p:ph type="title"/>
          </p:nvPr>
        </p:nvSpPr>
        <p:spPr>
          <a:xfrm>
            <a:off x="311700" y="10676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20">
                <a:solidFill>
                  <a:srgbClr val="000000"/>
                </a:solidFill>
                <a:latin typeface="Calibri"/>
                <a:ea typeface="Calibri"/>
                <a:cs typeface="Calibri"/>
                <a:sym typeface="Calibri"/>
              </a:rPr>
              <a:t>Industry</a:t>
            </a:r>
            <a:endParaRPr>
              <a:solidFill>
                <a:srgbClr val="000000"/>
              </a:solidFill>
            </a:endParaRPr>
          </a:p>
        </p:txBody>
      </p:sp>
      <p:pic>
        <p:nvPicPr>
          <p:cNvPr id="107" name="Google Shape;107;p19"/>
          <p:cNvPicPr preferRelativeResize="0"/>
          <p:nvPr/>
        </p:nvPicPr>
        <p:blipFill>
          <a:blip r:embed="rId4">
            <a:alphaModFix/>
          </a:blip>
          <a:stretch>
            <a:fillRect/>
          </a:stretch>
        </p:blipFill>
        <p:spPr>
          <a:xfrm>
            <a:off x="-51775" y="860666"/>
            <a:ext cx="4621068" cy="2858364"/>
          </a:xfrm>
          <a:prstGeom prst="rect">
            <a:avLst/>
          </a:prstGeom>
          <a:noFill/>
          <a:ln>
            <a:noFill/>
          </a:ln>
        </p:spPr>
      </p:pic>
      <p:sp>
        <p:nvSpPr>
          <p:cNvPr id="108" name="Google Shape;108;p19"/>
          <p:cNvSpPr txBox="1"/>
          <p:nvPr/>
        </p:nvSpPr>
        <p:spPr>
          <a:xfrm>
            <a:off x="-49275" y="3574069"/>
            <a:ext cx="4620900" cy="310800"/>
          </a:xfrm>
          <a:prstGeom prst="rect">
            <a:avLst/>
          </a:prstGeom>
          <a:solidFill>
            <a:schemeClr val="lt1"/>
          </a:solidFill>
          <a:ln>
            <a:noFill/>
          </a:ln>
        </p:spPr>
        <p:txBody>
          <a:bodyPr anchorCtr="0" anchor="ctr" bIns="44475" lIns="44475" spcFirstLastPara="1" rIns="44475" wrap="square" tIns="44475">
            <a:noAutofit/>
          </a:bodyPr>
          <a:lstStyle/>
          <a:p>
            <a:pPr indent="0" lvl="0" marL="0" rtl="0" algn="ctr">
              <a:spcBef>
                <a:spcPts val="0"/>
              </a:spcBef>
              <a:spcAft>
                <a:spcPts val="0"/>
              </a:spcAft>
              <a:buNone/>
            </a:pPr>
            <a:r>
              <a:rPr lang="en" sz="1421">
                <a:latin typeface="Times New Roman"/>
                <a:ea typeface="Times New Roman"/>
                <a:cs typeface="Times New Roman"/>
                <a:sym typeface="Times New Roman"/>
              </a:rPr>
              <a:t>%</a:t>
            </a:r>
            <a:r>
              <a:rPr lang="en" sz="1275">
                <a:latin typeface="Times New Roman"/>
                <a:ea typeface="Times New Roman"/>
                <a:cs typeface="Times New Roman"/>
                <a:sym typeface="Times New Roman"/>
              </a:rPr>
              <a:t> of language users of each academic language</a:t>
            </a:r>
            <a:endParaRPr sz="1275">
              <a:latin typeface="Times New Roman"/>
              <a:ea typeface="Times New Roman"/>
              <a:cs typeface="Times New Roman"/>
              <a:sym typeface="Times New Roman"/>
            </a:endParaRPr>
          </a:p>
        </p:txBody>
      </p:sp>
      <p:sp>
        <p:nvSpPr>
          <p:cNvPr id="109" name="Google Shape;109;p19"/>
          <p:cNvSpPr txBox="1"/>
          <p:nvPr/>
        </p:nvSpPr>
        <p:spPr>
          <a:xfrm>
            <a:off x="-51626" y="592900"/>
            <a:ext cx="4620900" cy="310800"/>
          </a:xfrm>
          <a:prstGeom prst="rect">
            <a:avLst/>
          </a:prstGeom>
          <a:solidFill>
            <a:srgbClr val="FFFFFF"/>
          </a:solidFill>
          <a:ln>
            <a:noFill/>
          </a:ln>
        </p:spPr>
        <p:txBody>
          <a:bodyPr anchorCtr="0" anchor="t" bIns="112875" lIns="112875" spcFirstLastPara="1" rIns="112875" wrap="square" tIns="112875">
            <a:noAutofit/>
          </a:bodyPr>
          <a:lstStyle/>
          <a:p>
            <a:pPr indent="0" lvl="0" marL="0" rtl="0" algn="l">
              <a:spcBef>
                <a:spcPts val="0"/>
              </a:spcBef>
              <a:spcAft>
                <a:spcPts val="0"/>
              </a:spcAft>
              <a:buNone/>
            </a:pPr>
            <a:r>
              <a:rPr lang="en" sz="1259">
                <a:solidFill>
                  <a:schemeClr val="dk1"/>
                </a:solidFill>
                <a:highlight>
                  <a:srgbClr val="FFFFFF"/>
                </a:highlight>
                <a:latin typeface="Times New Roman"/>
                <a:ea typeface="Times New Roman"/>
                <a:cs typeface="Times New Roman"/>
                <a:sym typeface="Times New Roman"/>
              </a:rPr>
              <a:t>StackOverflow Developer Survey</a:t>
            </a:r>
            <a:endParaRPr sz="1481">
              <a:solidFill>
                <a:schemeClr val="dk1"/>
              </a:solidFill>
              <a:highlight>
                <a:srgbClr val="FFFFFF"/>
              </a:highlight>
              <a:latin typeface="Times New Roman"/>
              <a:ea typeface="Times New Roman"/>
              <a:cs typeface="Times New Roman"/>
              <a:sym typeface="Times New Roman"/>
            </a:endParaRPr>
          </a:p>
        </p:txBody>
      </p:sp>
      <p:sp>
        <p:nvSpPr>
          <p:cNvPr id="110" name="Google Shape;110;p19"/>
          <p:cNvSpPr txBox="1"/>
          <p:nvPr/>
        </p:nvSpPr>
        <p:spPr>
          <a:xfrm>
            <a:off x="4528342" y="4685295"/>
            <a:ext cx="4691400" cy="317400"/>
          </a:xfrm>
          <a:prstGeom prst="rect">
            <a:avLst/>
          </a:prstGeom>
          <a:solidFill>
            <a:srgbClr val="FFFFFF"/>
          </a:solidFill>
          <a:ln>
            <a:noFill/>
          </a:ln>
        </p:spPr>
        <p:txBody>
          <a:bodyPr anchorCtr="0" anchor="ctr" bIns="64525" lIns="64525" spcFirstLastPara="1" rIns="64525" wrap="square" tIns="64525">
            <a:noAutofit/>
          </a:bodyPr>
          <a:lstStyle/>
          <a:p>
            <a:pPr indent="0" lvl="0" marL="0" rtl="0" algn="ctr">
              <a:spcBef>
                <a:spcPts val="0"/>
              </a:spcBef>
              <a:spcAft>
                <a:spcPts val="0"/>
              </a:spcAft>
              <a:buNone/>
            </a:pPr>
            <a:r>
              <a:rPr lang="en" sz="1482">
                <a:latin typeface="Times New Roman"/>
                <a:ea typeface="Times New Roman"/>
                <a:cs typeface="Times New Roman"/>
                <a:sym typeface="Times New Roman"/>
              </a:rPr>
              <a:t>%</a:t>
            </a:r>
            <a:r>
              <a:rPr lang="en" sz="1271">
                <a:latin typeface="Times New Roman"/>
                <a:ea typeface="Times New Roman"/>
                <a:cs typeface="Times New Roman"/>
                <a:sym typeface="Times New Roman"/>
              </a:rPr>
              <a:t> of language users of each top 10 language</a:t>
            </a:r>
            <a:endParaRPr sz="1271">
              <a:latin typeface="Times New Roman"/>
              <a:ea typeface="Times New Roman"/>
              <a:cs typeface="Times New Roman"/>
              <a:sym typeface="Times New Roman"/>
            </a:endParaRPr>
          </a:p>
        </p:txBody>
      </p:sp>
      <p:sp>
        <p:nvSpPr>
          <p:cNvPr id="111" name="Google Shape;111;p19"/>
          <p:cNvSpPr txBox="1"/>
          <p:nvPr/>
        </p:nvSpPr>
        <p:spPr>
          <a:xfrm>
            <a:off x="4409400" y="1635851"/>
            <a:ext cx="4841400" cy="317400"/>
          </a:xfrm>
          <a:prstGeom prst="rect">
            <a:avLst/>
          </a:prstGeom>
          <a:solidFill>
            <a:srgbClr val="FFFFFF"/>
          </a:solidFill>
          <a:ln>
            <a:noFill/>
          </a:ln>
        </p:spPr>
        <p:txBody>
          <a:bodyPr anchorCtr="0" anchor="t" bIns="113550" lIns="113550" spcFirstLastPara="1" rIns="113550" wrap="square" tIns="113550">
            <a:noAutofit/>
          </a:bodyPr>
          <a:lstStyle/>
          <a:p>
            <a:pPr indent="0" lvl="0" marL="0" rtl="0" algn="l">
              <a:spcBef>
                <a:spcPts val="0"/>
              </a:spcBef>
              <a:spcAft>
                <a:spcPts val="0"/>
              </a:spcAft>
              <a:buNone/>
            </a:pPr>
            <a:r>
              <a:rPr lang="en" sz="1266">
                <a:solidFill>
                  <a:schemeClr val="dk1"/>
                </a:solidFill>
                <a:highlight>
                  <a:srgbClr val="FFFFFF"/>
                </a:highlight>
                <a:latin typeface="Times New Roman"/>
                <a:ea typeface="Times New Roman"/>
                <a:cs typeface="Times New Roman"/>
                <a:sym typeface="Times New Roman"/>
              </a:rPr>
              <a:t>   </a:t>
            </a:r>
            <a:r>
              <a:rPr lang="en" sz="1266">
                <a:solidFill>
                  <a:schemeClr val="dk1"/>
                </a:solidFill>
                <a:highlight>
                  <a:srgbClr val="FFFFFF"/>
                </a:highlight>
                <a:latin typeface="Times New Roman"/>
                <a:ea typeface="Times New Roman"/>
                <a:cs typeface="Times New Roman"/>
                <a:sym typeface="Times New Roman"/>
              </a:rPr>
              <a:t>StackOverflow Developer Survey</a:t>
            </a:r>
            <a:endParaRPr sz="1490">
              <a:solidFill>
                <a:schemeClr val="dk1"/>
              </a:solidFill>
              <a:highlight>
                <a:srgbClr val="FFFFFF"/>
              </a:highlight>
              <a:latin typeface="Times New Roman"/>
              <a:ea typeface="Times New Roman"/>
              <a:cs typeface="Times New Roman"/>
              <a:sym typeface="Times New Roman"/>
            </a:endParaRPr>
          </a:p>
        </p:txBody>
      </p:sp>
      <p:sp>
        <p:nvSpPr>
          <p:cNvPr id="112" name="Google Shape;112;p19"/>
          <p:cNvSpPr/>
          <p:nvPr/>
        </p:nvSpPr>
        <p:spPr>
          <a:xfrm>
            <a:off x="4506450" y="1635850"/>
            <a:ext cx="4766400" cy="336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CB9C"/>
        </a:solidFill>
      </p:bgPr>
    </p:bg>
    <p:spTree>
      <p:nvGrpSpPr>
        <p:cNvPr id="116" name="Shape 116"/>
        <p:cNvGrpSpPr/>
        <p:nvPr/>
      </p:nvGrpSpPr>
      <p:grpSpPr>
        <a:xfrm>
          <a:off x="0" y="0"/>
          <a:ext cx="0" cy="0"/>
          <a:chOff x="0" y="0"/>
          <a:chExt cx="0" cy="0"/>
        </a:xfrm>
      </p:grpSpPr>
      <p:sp>
        <p:nvSpPr>
          <p:cNvPr id="117" name="Google Shape;117;p20"/>
          <p:cNvSpPr txBox="1"/>
          <p:nvPr/>
        </p:nvSpPr>
        <p:spPr>
          <a:xfrm>
            <a:off x="298250" y="1060475"/>
            <a:ext cx="4247400" cy="290100"/>
          </a:xfrm>
          <a:prstGeom prst="rect">
            <a:avLst/>
          </a:prstGeom>
          <a:solidFill>
            <a:srgbClr val="FFFFFF"/>
          </a:solidFill>
          <a:ln>
            <a:noFill/>
          </a:ln>
        </p:spPr>
        <p:txBody>
          <a:bodyPr anchorCtr="0" anchor="t" bIns="95575" lIns="95575" spcFirstLastPara="1" rIns="95575" wrap="square" tIns="95575">
            <a:noAutofit/>
          </a:bodyPr>
          <a:lstStyle/>
          <a:p>
            <a:pPr indent="0" lvl="0" marL="0" rtl="0" algn="l">
              <a:spcBef>
                <a:spcPts val="0"/>
              </a:spcBef>
              <a:spcAft>
                <a:spcPts val="0"/>
              </a:spcAft>
              <a:buNone/>
            </a:pPr>
            <a:r>
              <a:rPr lang="en" sz="1066">
                <a:solidFill>
                  <a:schemeClr val="dk1"/>
                </a:solidFill>
                <a:highlight>
                  <a:srgbClr val="FFFFFF"/>
                </a:highlight>
                <a:latin typeface="Times New Roman"/>
                <a:ea typeface="Times New Roman"/>
                <a:cs typeface="Times New Roman"/>
                <a:sym typeface="Times New Roman"/>
              </a:rPr>
              <a:t>GitHub</a:t>
            </a:r>
            <a:endParaRPr sz="1254">
              <a:solidFill>
                <a:schemeClr val="dk1"/>
              </a:solidFill>
              <a:highlight>
                <a:srgbClr val="FFFFFF"/>
              </a:highlight>
              <a:latin typeface="Times New Roman"/>
              <a:ea typeface="Times New Roman"/>
              <a:cs typeface="Times New Roman"/>
              <a:sym typeface="Times New Roman"/>
            </a:endParaRPr>
          </a:p>
        </p:txBody>
      </p:sp>
      <p:sp>
        <p:nvSpPr>
          <p:cNvPr id="118" name="Google Shape;118;p20"/>
          <p:cNvSpPr txBox="1"/>
          <p:nvPr>
            <p:ph type="title"/>
          </p:nvPr>
        </p:nvSpPr>
        <p:spPr>
          <a:xfrm>
            <a:off x="311700" y="10676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20">
                <a:solidFill>
                  <a:srgbClr val="000000"/>
                </a:solidFill>
                <a:latin typeface="Calibri"/>
                <a:ea typeface="Calibri"/>
                <a:cs typeface="Calibri"/>
                <a:sym typeface="Calibri"/>
              </a:rPr>
              <a:t>Industry</a:t>
            </a:r>
            <a:endParaRPr/>
          </a:p>
        </p:txBody>
      </p:sp>
      <p:pic>
        <p:nvPicPr>
          <p:cNvPr id="119" name="Google Shape;119;p20"/>
          <p:cNvPicPr preferRelativeResize="0"/>
          <p:nvPr/>
        </p:nvPicPr>
        <p:blipFill rotWithShape="1">
          <a:blip r:embed="rId3">
            <a:alphaModFix/>
          </a:blip>
          <a:srcRect b="0" l="0" r="0" t="4616"/>
          <a:stretch/>
        </p:blipFill>
        <p:spPr>
          <a:xfrm>
            <a:off x="298493" y="1323619"/>
            <a:ext cx="4247636" cy="2506162"/>
          </a:xfrm>
          <a:prstGeom prst="rect">
            <a:avLst/>
          </a:prstGeom>
          <a:noFill/>
          <a:ln>
            <a:noFill/>
          </a:ln>
        </p:spPr>
      </p:pic>
      <p:sp>
        <p:nvSpPr>
          <p:cNvPr id="120" name="Google Shape;120;p20"/>
          <p:cNvSpPr txBox="1"/>
          <p:nvPr/>
        </p:nvSpPr>
        <p:spPr>
          <a:xfrm>
            <a:off x="298451" y="3686200"/>
            <a:ext cx="4247700" cy="206700"/>
          </a:xfrm>
          <a:prstGeom prst="rect">
            <a:avLst/>
          </a:prstGeom>
          <a:solidFill>
            <a:srgbClr val="FFFFFF"/>
          </a:solidFill>
          <a:ln>
            <a:noFill/>
          </a:ln>
        </p:spPr>
        <p:txBody>
          <a:bodyPr anchorCtr="0" anchor="ctr" bIns="51325" lIns="51325" spcFirstLastPara="1" rIns="51325" wrap="square" tIns="51325">
            <a:noAutofit/>
          </a:bodyPr>
          <a:lstStyle/>
          <a:p>
            <a:pPr indent="0" lvl="0" marL="0" rtl="0" algn="ctr">
              <a:spcBef>
                <a:spcPts val="0"/>
              </a:spcBef>
              <a:spcAft>
                <a:spcPts val="0"/>
              </a:spcAft>
              <a:buNone/>
            </a:pPr>
            <a:r>
              <a:rPr lang="en" sz="1178">
                <a:highlight>
                  <a:srgbClr val="FFFFFF"/>
                </a:highlight>
                <a:latin typeface="Times New Roman"/>
                <a:ea typeface="Times New Roman"/>
                <a:cs typeface="Times New Roman"/>
                <a:sym typeface="Times New Roman"/>
              </a:rPr>
              <a:t>%</a:t>
            </a:r>
            <a:r>
              <a:rPr lang="en" sz="1010">
                <a:highlight>
                  <a:srgbClr val="FFFFFF"/>
                </a:highlight>
                <a:latin typeface="Times New Roman"/>
                <a:ea typeface="Times New Roman"/>
                <a:cs typeface="Times New Roman"/>
                <a:sym typeface="Times New Roman"/>
              </a:rPr>
              <a:t> of GitHub repositories of each academic language</a:t>
            </a:r>
            <a:endParaRPr sz="1010">
              <a:highlight>
                <a:srgbClr val="FFFFFF"/>
              </a:highlight>
              <a:latin typeface="Times New Roman"/>
              <a:ea typeface="Times New Roman"/>
              <a:cs typeface="Times New Roman"/>
              <a:sym typeface="Times New Roman"/>
            </a:endParaRPr>
          </a:p>
        </p:txBody>
      </p:sp>
      <p:sp>
        <p:nvSpPr>
          <p:cNvPr id="121" name="Google Shape;121;p20"/>
          <p:cNvSpPr txBox="1"/>
          <p:nvPr/>
        </p:nvSpPr>
        <p:spPr>
          <a:xfrm>
            <a:off x="4788738" y="2571750"/>
            <a:ext cx="3756900" cy="290100"/>
          </a:xfrm>
          <a:prstGeom prst="rect">
            <a:avLst/>
          </a:prstGeom>
          <a:solidFill>
            <a:srgbClr val="FFFFFF"/>
          </a:solidFill>
          <a:ln>
            <a:noFill/>
          </a:ln>
        </p:spPr>
        <p:txBody>
          <a:bodyPr anchorCtr="0" anchor="t" bIns="95575" lIns="95575" spcFirstLastPara="1" rIns="95575" wrap="square" tIns="95575">
            <a:noAutofit/>
          </a:bodyPr>
          <a:lstStyle/>
          <a:p>
            <a:pPr indent="0" lvl="0" marL="0" rtl="0" algn="l">
              <a:spcBef>
                <a:spcPts val="0"/>
              </a:spcBef>
              <a:spcAft>
                <a:spcPts val="0"/>
              </a:spcAft>
              <a:buNone/>
            </a:pPr>
            <a:r>
              <a:rPr lang="en" sz="1066">
                <a:solidFill>
                  <a:schemeClr val="dk1"/>
                </a:solidFill>
                <a:highlight>
                  <a:srgbClr val="FFFFFF"/>
                </a:highlight>
                <a:latin typeface="Times New Roman"/>
                <a:ea typeface="Times New Roman"/>
                <a:cs typeface="Times New Roman"/>
                <a:sym typeface="Times New Roman"/>
              </a:rPr>
              <a:t>Internet Archive</a:t>
            </a:r>
            <a:endParaRPr sz="1066">
              <a:solidFill>
                <a:schemeClr val="dk1"/>
              </a:solidFill>
              <a:highlight>
                <a:srgbClr val="FFFFFF"/>
              </a:highlight>
              <a:latin typeface="Times New Roman"/>
              <a:ea typeface="Times New Roman"/>
              <a:cs typeface="Times New Roman"/>
              <a:sym typeface="Times New Roman"/>
            </a:endParaRPr>
          </a:p>
        </p:txBody>
      </p:sp>
      <p:pic>
        <p:nvPicPr>
          <p:cNvPr id="122" name="Google Shape;122;p20"/>
          <p:cNvPicPr preferRelativeResize="0"/>
          <p:nvPr/>
        </p:nvPicPr>
        <p:blipFill rotWithShape="1">
          <a:blip r:embed="rId4">
            <a:alphaModFix/>
          </a:blip>
          <a:srcRect b="0" l="0" r="0" t="3372"/>
          <a:stretch/>
        </p:blipFill>
        <p:spPr>
          <a:xfrm>
            <a:off x="4788500" y="142820"/>
            <a:ext cx="3757199" cy="2188123"/>
          </a:xfrm>
          <a:prstGeom prst="rect">
            <a:avLst/>
          </a:prstGeom>
          <a:noFill/>
          <a:ln>
            <a:noFill/>
          </a:ln>
        </p:spPr>
      </p:pic>
      <p:sp>
        <p:nvSpPr>
          <p:cNvPr id="123" name="Google Shape;123;p20"/>
          <p:cNvSpPr txBox="1"/>
          <p:nvPr/>
        </p:nvSpPr>
        <p:spPr>
          <a:xfrm>
            <a:off x="4788539" y="2277999"/>
            <a:ext cx="3757200" cy="190200"/>
          </a:xfrm>
          <a:prstGeom prst="rect">
            <a:avLst/>
          </a:prstGeom>
          <a:solidFill>
            <a:srgbClr val="FFFFFF"/>
          </a:solidFill>
          <a:ln>
            <a:noFill/>
          </a:ln>
        </p:spPr>
        <p:txBody>
          <a:bodyPr anchorCtr="0" anchor="ctr" bIns="47150" lIns="47150" spcFirstLastPara="1" rIns="47150" wrap="square" tIns="47150">
            <a:noAutofit/>
          </a:bodyPr>
          <a:lstStyle/>
          <a:p>
            <a:pPr indent="0" lvl="0" marL="0" rtl="0" algn="ctr">
              <a:spcBef>
                <a:spcPts val="0"/>
              </a:spcBef>
              <a:spcAft>
                <a:spcPts val="0"/>
              </a:spcAft>
              <a:buNone/>
            </a:pPr>
            <a:r>
              <a:rPr lang="en" sz="928">
                <a:latin typeface="Times New Roman"/>
                <a:ea typeface="Times New Roman"/>
                <a:cs typeface="Times New Roman"/>
                <a:sym typeface="Times New Roman"/>
              </a:rPr>
              <a:t>Google relative interest score of each academic language</a:t>
            </a:r>
            <a:endParaRPr sz="928">
              <a:latin typeface="Times New Roman"/>
              <a:ea typeface="Times New Roman"/>
              <a:cs typeface="Times New Roman"/>
              <a:sym typeface="Times New Roman"/>
            </a:endParaRPr>
          </a:p>
        </p:txBody>
      </p:sp>
      <p:pic>
        <p:nvPicPr>
          <p:cNvPr id="124" name="Google Shape;124;p20" title="Chart"/>
          <p:cNvPicPr preferRelativeResize="0"/>
          <p:nvPr/>
        </p:nvPicPr>
        <p:blipFill rotWithShape="1">
          <a:blip r:embed="rId5">
            <a:alphaModFix/>
          </a:blip>
          <a:srcRect b="0" l="0" r="0" t="3633"/>
          <a:stretch/>
        </p:blipFill>
        <p:spPr>
          <a:xfrm>
            <a:off x="4788513" y="2822251"/>
            <a:ext cx="3756975" cy="2238618"/>
          </a:xfrm>
          <a:prstGeom prst="rect">
            <a:avLst/>
          </a:prstGeom>
          <a:noFill/>
          <a:ln>
            <a:noFill/>
          </a:ln>
        </p:spPr>
      </p:pic>
      <p:sp>
        <p:nvSpPr>
          <p:cNvPr id="125" name="Google Shape;125;p20"/>
          <p:cNvSpPr txBox="1"/>
          <p:nvPr/>
        </p:nvSpPr>
        <p:spPr>
          <a:xfrm>
            <a:off x="4788591" y="4934544"/>
            <a:ext cx="3757200" cy="175800"/>
          </a:xfrm>
          <a:prstGeom prst="rect">
            <a:avLst/>
          </a:prstGeom>
          <a:solidFill>
            <a:srgbClr val="FFFFFF"/>
          </a:solidFill>
          <a:ln>
            <a:noFill/>
          </a:ln>
        </p:spPr>
        <p:txBody>
          <a:bodyPr anchorCtr="0" anchor="ctr" bIns="47600" lIns="47600" spcFirstLastPara="1" rIns="47600" wrap="square" tIns="47600">
            <a:noAutofit/>
          </a:bodyPr>
          <a:lstStyle/>
          <a:p>
            <a:pPr indent="0" lvl="0" marL="0" rtl="0" algn="ctr">
              <a:spcBef>
                <a:spcPts val="0"/>
              </a:spcBef>
              <a:spcAft>
                <a:spcPts val="0"/>
              </a:spcAft>
              <a:buNone/>
            </a:pPr>
            <a:r>
              <a:rPr lang="en" sz="677">
                <a:latin typeface="Times New Roman"/>
                <a:ea typeface="Times New Roman"/>
                <a:cs typeface="Times New Roman"/>
                <a:sym typeface="Times New Roman"/>
              </a:rPr>
              <a:t>% of media published that involves each academic language’s keywords to total academic language media</a:t>
            </a:r>
            <a:endParaRPr sz="677">
              <a:latin typeface="Times New Roman"/>
              <a:ea typeface="Times New Roman"/>
              <a:cs typeface="Times New Roman"/>
              <a:sym typeface="Times New Roman"/>
            </a:endParaRPr>
          </a:p>
        </p:txBody>
      </p:sp>
      <p:sp>
        <p:nvSpPr>
          <p:cNvPr id="126" name="Google Shape;126;p20"/>
          <p:cNvSpPr txBox="1"/>
          <p:nvPr/>
        </p:nvSpPr>
        <p:spPr>
          <a:xfrm>
            <a:off x="4788545" y="76200"/>
            <a:ext cx="3757200" cy="108300"/>
          </a:xfrm>
          <a:prstGeom prst="rect">
            <a:avLst/>
          </a:prstGeom>
          <a:solidFill>
            <a:srgbClr val="FFFFFF"/>
          </a:solidFill>
          <a:ln>
            <a:noFill/>
          </a:ln>
        </p:spPr>
        <p:txBody>
          <a:bodyPr anchorCtr="0" anchor="t" bIns="87025" lIns="87025" spcFirstLastPara="1" rIns="87025" wrap="square" tIns="87025">
            <a:noAutofit/>
          </a:bodyPr>
          <a:lstStyle/>
          <a:p>
            <a:pPr indent="0" lvl="0" marL="0" rtl="0" algn="l">
              <a:spcBef>
                <a:spcPts val="0"/>
              </a:spcBef>
              <a:spcAft>
                <a:spcPts val="0"/>
              </a:spcAft>
              <a:buNone/>
            </a:pPr>
            <a:r>
              <a:rPr lang="en" sz="879">
                <a:solidFill>
                  <a:schemeClr val="dk1"/>
                </a:solidFill>
                <a:highlight>
                  <a:srgbClr val="FFFFFF"/>
                </a:highlight>
                <a:latin typeface="Times New Roman"/>
                <a:ea typeface="Times New Roman"/>
                <a:cs typeface="Times New Roman"/>
                <a:sym typeface="Times New Roman"/>
              </a:rPr>
              <a:t>Google Trends</a:t>
            </a:r>
            <a:endParaRPr sz="1050">
              <a:solidFill>
                <a:schemeClr val="dk1"/>
              </a:solidFill>
              <a:highlight>
                <a:srgbClr val="FFFFFF"/>
              </a:highlight>
              <a:latin typeface="Times New Roman"/>
              <a:ea typeface="Times New Roman"/>
              <a:cs typeface="Times New Roman"/>
              <a:sym typeface="Times New Roman"/>
            </a:endParaRPr>
          </a:p>
        </p:txBody>
      </p:sp>
      <p:sp>
        <p:nvSpPr>
          <p:cNvPr id="127" name="Google Shape;127;p20"/>
          <p:cNvSpPr/>
          <p:nvPr/>
        </p:nvSpPr>
        <p:spPr>
          <a:xfrm>
            <a:off x="4788738" y="2571900"/>
            <a:ext cx="3756900" cy="2535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0"/>
          <p:cNvSpPr/>
          <p:nvPr/>
        </p:nvSpPr>
        <p:spPr>
          <a:xfrm>
            <a:off x="4788500" y="76200"/>
            <a:ext cx="3757200" cy="2391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132" name="Shape 132"/>
        <p:cNvGrpSpPr/>
        <p:nvPr/>
      </p:nvGrpSpPr>
      <p:grpSpPr>
        <a:xfrm>
          <a:off x="0" y="0"/>
          <a:ext cx="0" cy="0"/>
          <a:chOff x="0" y="0"/>
          <a:chExt cx="0" cy="0"/>
        </a:xfrm>
      </p:grpSpPr>
      <p:sp>
        <p:nvSpPr>
          <p:cNvPr id="133" name="Google Shape;133;p21"/>
          <p:cNvSpPr txBox="1"/>
          <p:nvPr>
            <p:ph type="title"/>
          </p:nvPr>
        </p:nvSpPr>
        <p:spPr>
          <a:xfrm>
            <a:off x="311700" y="10676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20">
                <a:solidFill>
                  <a:srgbClr val="000000"/>
                </a:solidFill>
                <a:latin typeface="Calibri"/>
                <a:ea typeface="Calibri"/>
                <a:cs typeface="Calibri"/>
                <a:sym typeface="Calibri"/>
              </a:rPr>
              <a:t>Academic Survey - Paradigms</a:t>
            </a:r>
            <a:endParaRPr/>
          </a:p>
        </p:txBody>
      </p:sp>
      <p:pic>
        <p:nvPicPr>
          <p:cNvPr id="134" name="Google Shape;134;p21"/>
          <p:cNvPicPr preferRelativeResize="0"/>
          <p:nvPr/>
        </p:nvPicPr>
        <p:blipFill rotWithShape="1">
          <a:blip r:embed="rId3">
            <a:alphaModFix/>
          </a:blip>
          <a:srcRect b="3345" l="0" r="0" t="2669"/>
          <a:stretch/>
        </p:blipFill>
        <p:spPr>
          <a:xfrm>
            <a:off x="842800" y="679475"/>
            <a:ext cx="7358899" cy="4277950"/>
          </a:xfrm>
          <a:prstGeom prst="rect">
            <a:avLst/>
          </a:prstGeom>
          <a:noFill/>
          <a:ln>
            <a:noFill/>
          </a:ln>
        </p:spPr>
      </p:pic>
      <p:sp>
        <p:nvSpPr>
          <p:cNvPr id="135" name="Google Shape;135;p21"/>
          <p:cNvSpPr txBox="1"/>
          <p:nvPr/>
        </p:nvSpPr>
        <p:spPr>
          <a:xfrm>
            <a:off x="1870375" y="815825"/>
            <a:ext cx="11739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Python, Java, JavaScript, C-family, Ruby</a:t>
            </a:r>
            <a:endParaRPr sz="1200">
              <a:latin typeface="Times New Roman"/>
              <a:ea typeface="Times New Roman"/>
              <a:cs typeface="Times New Roman"/>
              <a:sym typeface="Times New Roman"/>
            </a:endParaRPr>
          </a:p>
        </p:txBody>
      </p:sp>
      <p:sp>
        <p:nvSpPr>
          <p:cNvPr id="136" name="Google Shape;136;p21"/>
          <p:cNvSpPr txBox="1"/>
          <p:nvPr/>
        </p:nvSpPr>
        <p:spPr>
          <a:xfrm>
            <a:off x="3044275" y="815825"/>
            <a:ext cx="11739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Haskell</a:t>
            </a:r>
            <a:endParaRPr sz="1200">
              <a:latin typeface="Times New Roman"/>
              <a:ea typeface="Times New Roman"/>
              <a:cs typeface="Times New Roman"/>
              <a:sym typeface="Times New Roman"/>
            </a:endParaRPr>
          </a:p>
        </p:txBody>
      </p:sp>
      <p:sp>
        <p:nvSpPr>
          <p:cNvPr id="137" name="Google Shape;137;p21"/>
          <p:cNvSpPr txBox="1"/>
          <p:nvPr/>
        </p:nvSpPr>
        <p:spPr>
          <a:xfrm>
            <a:off x="4141800" y="815825"/>
            <a:ext cx="11739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SQL, HTML, Haskell</a:t>
            </a:r>
            <a:endParaRPr sz="1200">
              <a:latin typeface="Times New Roman"/>
              <a:ea typeface="Times New Roman"/>
              <a:cs typeface="Times New Roman"/>
              <a:sym typeface="Times New Roman"/>
            </a:endParaRPr>
          </a:p>
        </p:txBody>
      </p:sp>
      <p:sp>
        <p:nvSpPr>
          <p:cNvPr id="138" name="Google Shape;138;p21"/>
          <p:cNvSpPr txBox="1"/>
          <p:nvPr/>
        </p:nvSpPr>
        <p:spPr>
          <a:xfrm>
            <a:off x="5249300" y="815825"/>
            <a:ext cx="11739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Python, Java, C-family, JavaScript</a:t>
            </a:r>
            <a:endParaRPr sz="1200">
              <a:latin typeface="Times New Roman"/>
              <a:ea typeface="Times New Roman"/>
              <a:cs typeface="Times New Roman"/>
              <a:sym typeface="Times New Roman"/>
            </a:endParaRPr>
          </a:p>
        </p:txBody>
      </p:sp>
      <p:sp>
        <p:nvSpPr>
          <p:cNvPr id="139" name="Google Shape;139;p21"/>
          <p:cNvSpPr txBox="1"/>
          <p:nvPr/>
        </p:nvSpPr>
        <p:spPr>
          <a:xfrm>
            <a:off x="6413225" y="815825"/>
            <a:ext cx="11739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C, Pascal, FORTRAN, Basic</a:t>
            </a:r>
            <a:endParaRPr sz="1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143" name="Shape 143"/>
        <p:cNvGrpSpPr/>
        <p:nvPr/>
      </p:nvGrpSpPr>
      <p:grpSpPr>
        <a:xfrm>
          <a:off x="0" y="0"/>
          <a:ext cx="0" cy="0"/>
          <a:chOff x="0" y="0"/>
          <a:chExt cx="0" cy="0"/>
        </a:xfrm>
      </p:grpSpPr>
      <p:sp>
        <p:nvSpPr>
          <p:cNvPr id="144" name="Google Shape;144;p22"/>
          <p:cNvSpPr txBox="1"/>
          <p:nvPr>
            <p:ph type="title"/>
          </p:nvPr>
        </p:nvSpPr>
        <p:spPr>
          <a:xfrm>
            <a:off x="311700" y="10676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20">
                <a:solidFill>
                  <a:srgbClr val="000000"/>
                </a:solidFill>
                <a:latin typeface="Calibri"/>
                <a:ea typeface="Calibri"/>
                <a:cs typeface="Calibri"/>
                <a:sym typeface="Calibri"/>
              </a:rPr>
              <a:t>Academic Survey - Ratings</a:t>
            </a:r>
            <a:endParaRPr/>
          </a:p>
        </p:txBody>
      </p:sp>
      <p:pic>
        <p:nvPicPr>
          <p:cNvPr id="145" name="Google Shape;145;p22" title="languageRateGraph.png"/>
          <p:cNvPicPr preferRelativeResize="0"/>
          <p:nvPr/>
        </p:nvPicPr>
        <p:blipFill>
          <a:blip r:embed="rId3">
            <a:alphaModFix/>
          </a:blip>
          <a:stretch>
            <a:fillRect/>
          </a:stretch>
        </p:blipFill>
        <p:spPr>
          <a:xfrm>
            <a:off x="2954774" y="629725"/>
            <a:ext cx="6096400" cy="4414275"/>
          </a:xfrm>
          <a:prstGeom prst="rect">
            <a:avLst/>
          </a:prstGeom>
          <a:noFill/>
          <a:ln>
            <a:noFill/>
          </a:ln>
        </p:spPr>
      </p:pic>
      <p:pic>
        <p:nvPicPr>
          <p:cNvPr id="146" name="Google Shape;146;p22" title="Chart"/>
          <p:cNvPicPr preferRelativeResize="0"/>
          <p:nvPr/>
        </p:nvPicPr>
        <p:blipFill rotWithShape="1">
          <a:blip r:embed="rId4">
            <a:alphaModFix/>
          </a:blip>
          <a:srcRect b="4375" l="2872" r="2313" t="2920"/>
          <a:stretch/>
        </p:blipFill>
        <p:spPr>
          <a:xfrm>
            <a:off x="22350" y="908950"/>
            <a:ext cx="3111699" cy="1881274"/>
          </a:xfrm>
          <a:prstGeom prst="rect">
            <a:avLst/>
          </a:prstGeom>
          <a:noFill/>
          <a:ln>
            <a:noFill/>
          </a:ln>
        </p:spPr>
      </p:pic>
      <p:sp>
        <p:nvSpPr>
          <p:cNvPr id="147" name="Google Shape;147;p22"/>
          <p:cNvSpPr txBox="1"/>
          <p:nvPr/>
        </p:nvSpPr>
        <p:spPr>
          <a:xfrm>
            <a:off x="103118" y="646645"/>
            <a:ext cx="2736000" cy="34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 Languages taught</a:t>
            </a:r>
            <a:endParaRPr sz="1500">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151" name="Shape 151"/>
        <p:cNvGrpSpPr/>
        <p:nvPr/>
      </p:nvGrpSpPr>
      <p:grpSpPr>
        <a:xfrm>
          <a:off x="0" y="0"/>
          <a:ext cx="0" cy="0"/>
          <a:chOff x="0" y="0"/>
          <a:chExt cx="0" cy="0"/>
        </a:xfrm>
      </p:grpSpPr>
      <p:sp>
        <p:nvSpPr>
          <p:cNvPr id="152" name="Google Shape;15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Academic Survey - Feedback</a:t>
            </a:r>
            <a:endParaRPr b="1" sz="2620">
              <a:latin typeface="Calibri"/>
              <a:ea typeface="Calibri"/>
              <a:cs typeface="Calibri"/>
              <a:sym typeface="Calibri"/>
            </a:endParaRPr>
          </a:p>
        </p:txBody>
      </p:sp>
      <p:sp>
        <p:nvSpPr>
          <p:cNvPr id="153" name="Google Shape;153;p23"/>
          <p:cNvSpPr txBox="1"/>
          <p:nvPr/>
        </p:nvSpPr>
        <p:spPr>
          <a:xfrm>
            <a:off x="360300" y="1088975"/>
            <a:ext cx="8520600" cy="354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500">
                <a:solidFill>
                  <a:schemeClr val="dk1"/>
                </a:solidFill>
                <a:highlight>
                  <a:srgbClr val="FFFFFF"/>
                </a:highlight>
                <a:latin typeface="Times New Roman"/>
                <a:ea typeface="Times New Roman"/>
                <a:cs typeface="Times New Roman"/>
                <a:sym typeface="Times New Roman"/>
              </a:rPr>
              <a:t>“I interpreted "introductory" as: CS 1 (Python), CS 2 (Java), programming taught to math majors (Logo, then R, now Python, Sage), and programming taught to education majors (Scratch, Python, Sage)” </a:t>
            </a:r>
            <a:endParaRPr sz="15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600">
              <a:solidFill>
                <a:schemeClr val="dk1"/>
              </a:solidFill>
              <a:highlight>
                <a:srgbClr val="FFFFFF"/>
              </a:highlight>
              <a:latin typeface="Times New Roman"/>
              <a:ea typeface="Times New Roman"/>
              <a:cs typeface="Times New Roman"/>
              <a:sym typeface="Times New Roman"/>
            </a:endParaRPr>
          </a:p>
          <a:p>
            <a:pPr indent="0" lvl="0" marL="0" rtl="0" algn="l">
              <a:lnSpc>
                <a:spcPct val="150000"/>
              </a:lnSpc>
              <a:spcBef>
                <a:spcPts val="0"/>
              </a:spcBef>
              <a:spcAft>
                <a:spcPts val="0"/>
              </a:spcAft>
              <a:buClr>
                <a:schemeClr val="dk1"/>
              </a:buClr>
              <a:buSzPts val="1100"/>
              <a:buFont typeface="Arial"/>
              <a:buNone/>
            </a:pPr>
            <a:r>
              <a:rPr lang="en" sz="1500">
                <a:solidFill>
                  <a:schemeClr val="dk1"/>
                </a:solidFill>
                <a:highlight>
                  <a:srgbClr val="FFFFFF"/>
                </a:highlight>
                <a:latin typeface="Times New Roman"/>
                <a:ea typeface="Times New Roman"/>
                <a:cs typeface="Times New Roman"/>
                <a:sym typeface="Times New Roman"/>
              </a:rPr>
              <a:t>“We are switching from Java to C++ in the 2nd and 3rd courses of our introductory sequence.”</a:t>
            </a:r>
            <a:endParaRPr sz="15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1500">
              <a:solidFill>
                <a:schemeClr val="dk1"/>
              </a:solidFill>
              <a:highlight>
                <a:srgbClr val="FFFFFF"/>
              </a:highlight>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 sz="1500">
                <a:solidFill>
                  <a:schemeClr val="dk1"/>
                </a:solidFill>
                <a:highlight>
                  <a:srgbClr val="FFFFFF"/>
                </a:highlight>
                <a:latin typeface="Times New Roman"/>
                <a:ea typeface="Times New Roman"/>
                <a:cs typeface="Times New Roman"/>
                <a:sym typeface="Times New Roman"/>
              </a:rPr>
              <a:t>“</a:t>
            </a:r>
            <a:r>
              <a:rPr lang="en" sz="808">
                <a:solidFill>
                  <a:schemeClr val="dk1"/>
                </a:solidFill>
                <a:highlight>
                  <a:srgbClr val="FFFFFF"/>
                </a:highlight>
                <a:latin typeface="Times New Roman"/>
                <a:ea typeface="Times New Roman"/>
                <a:cs typeface="Times New Roman"/>
                <a:sym typeface="Times New Roman"/>
              </a:rPr>
              <a:t>Our </a:t>
            </a:r>
            <a:r>
              <a:rPr b="1" lang="en" sz="1666" u="sng">
                <a:solidFill>
                  <a:schemeClr val="dk1"/>
                </a:solidFill>
                <a:highlight>
                  <a:srgbClr val="FFFFFF"/>
                </a:highlight>
                <a:latin typeface="Times New Roman"/>
                <a:ea typeface="Times New Roman"/>
                <a:cs typeface="Times New Roman"/>
                <a:sym typeface="Times New Roman"/>
              </a:rPr>
              <a:t>CS1 and</a:t>
            </a:r>
            <a:r>
              <a:rPr b="1" lang="en" sz="1450">
                <a:solidFill>
                  <a:schemeClr val="dk1"/>
                </a:solidFill>
                <a:highlight>
                  <a:srgbClr val="FFFFFF"/>
                </a:highlight>
                <a:latin typeface="Times New Roman"/>
                <a:ea typeface="Times New Roman"/>
                <a:cs typeface="Times New Roman"/>
                <a:sym typeface="Times New Roman"/>
              </a:rPr>
              <a:t> </a:t>
            </a:r>
            <a:r>
              <a:rPr lang="en" sz="808">
                <a:solidFill>
                  <a:schemeClr val="dk1"/>
                </a:solidFill>
                <a:highlight>
                  <a:srgbClr val="FFFFFF"/>
                </a:highlight>
                <a:latin typeface="Times New Roman"/>
                <a:ea typeface="Times New Roman"/>
                <a:cs typeface="Times New Roman"/>
                <a:sym typeface="Times New Roman"/>
              </a:rPr>
              <a:t>our intro </a:t>
            </a:r>
            <a:r>
              <a:rPr b="1" lang="en" sz="1666" u="sng">
                <a:solidFill>
                  <a:schemeClr val="dk1"/>
                </a:solidFill>
                <a:highlight>
                  <a:srgbClr val="FFFFFF"/>
                </a:highlight>
                <a:latin typeface="Times New Roman"/>
                <a:ea typeface="Times New Roman"/>
                <a:cs typeface="Times New Roman"/>
                <a:sym typeface="Times New Roman"/>
              </a:rPr>
              <a:t>data sciences</a:t>
            </a:r>
            <a:r>
              <a:rPr lang="en" sz="1450">
                <a:solidFill>
                  <a:schemeClr val="dk1"/>
                </a:solidFill>
                <a:highlight>
                  <a:srgbClr val="FFFFFF"/>
                </a:highlight>
                <a:latin typeface="Times New Roman"/>
                <a:ea typeface="Times New Roman"/>
                <a:cs typeface="Times New Roman"/>
                <a:sym typeface="Times New Roman"/>
              </a:rPr>
              <a:t> </a:t>
            </a:r>
            <a:r>
              <a:rPr lang="en" sz="808">
                <a:solidFill>
                  <a:schemeClr val="dk1"/>
                </a:solidFill>
                <a:highlight>
                  <a:srgbClr val="FFFFFF"/>
                </a:highlight>
                <a:latin typeface="Times New Roman"/>
                <a:ea typeface="Times New Roman"/>
                <a:cs typeface="Times New Roman"/>
                <a:sym typeface="Times New Roman"/>
              </a:rPr>
              <a:t>class both use </a:t>
            </a:r>
            <a:r>
              <a:rPr b="1" lang="en" sz="1666" u="sng">
                <a:solidFill>
                  <a:schemeClr val="dk1"/>
                </a:solidFill>
                <a:highlight>
                  <a:srgbClr val="FFFFFF"/>
                </a:highlight>
                <a:latin typeface="Times New Roman"/>
                <a:ea typeface="Times New Roman"/>
                <a:cs typeface="Times New Roman"/>
                <a:sym typeface="Times New Roman"/>
              </a:rPr>
              <a:t>Python</a:t>
            </a:r>
            <a:r>
              <a:rPr i="1" lang="en" sz="808">
                <a:solidFill>
                  <a:schemeClr val="dk1"/>
                </a:solidFill>
                <a:highlight>
                  <a:srgbClr val="FFFFFF"/>
                </a:highlight>
                <a:latin typeface="Times New Roman"/>
                <a:ea typeface="Times New Roman"/>
                <a:cs typeface="Times New Roman"/>
                <a:sym typeface="Times New Roman"/>
              </a:rPr>
              <a:t>. </a:t>
            </a:r>
            <a:r>
              <a:rPr lang="en" sz="1500">
                <a:solidFill>
                  <a:schemeClr val="dk1"/>
                </a:solidFill>
                <a:highlight>
                  <a:srgbClr val="FFFFFF"/>
                </a:highlight>
                <a:latin typeface="Times New Roman"/>
                <a:ea typeface="Times New Roman"/>
                <a:cs typeface="Times New Roman"/>
                <a:sym typeface="Times New Roman"/>
              </a:rPr>
              <a:t>”</a:t>
            </a:r>
            <a:endParaRPr sz="15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 sz="1500">
                <a:solidFill>
                  <a:schemeClr val="dk1"/>
                </a:solidFill>
                <a:highlight>
                  <a:srgbClr val="FFFFFF"/>
                </a:highlight>
                <a:latin typeface="Times New Roman"/>
                <a:ea typeface="Times New Roman"/>
                <a:cs typeface="Times New Roman"/>
                <a:sym typeface="Times New Roman"/>
              </a:rPr>
              <a:t> </a:t>
            </a:r>
            <a:endParaRPr sz="600">
              <a:solidFill>
                <a:schemeClr val="dk1"/>
              </a:solidFill>
              <a:highlight>
                <a:srgbClr val="FFFFFF"/>
              </a:highlight>
              <a:latin typeface="Times New Roman"/>
              <a:ea typeface="Times New Roman"/>
              <a:cs typeface="Times New Roman"/>
              <a:sym typeface="Times New Roman"/>
            </a:endParaRPr>
          </a:p>
          <a:p>
            <a:pPr indent="0" lvl="0" marL="0" rtl="0" algn="l">
              <a:lnSpc>
                <a:spcPct val="150000"/>
              </a:lnSpc>
              <a:spcBef>
                <a:spcPts val="0"/>
              </a:spcBef>
              <a:spcAft>
                <a:spcPts val="1200"/>
              </a:spcAft>
              <a:buNone/>
            </a:pPr>
            <a:r>
              <a:rPr lang="en" sz="1500">
                <a:solidFill>
                  <a:schemeClr val="dk1"/>
                </a:solidFill>
                <a:highlight>
                  <a:srgbClr val="FFFFFF"/>
                </a:highlight>
                <a:latin typeface="Times New Roman"/>
                <a:ea typeface="Times New Roman"/>
                <a:cs typeface="Times New Roman"/>
                <a:sym typeface="Times New Roman"/>
              </a:rPr>
              <a:t>“The ‘must-runs’ in Java can confuse students…modern languages have curved more toward BASIC (a language developed for teaching at Dartmouth), dispensing with certain forms of syntax which constitute “extra” grammar”</a:t>
            </a:r>
            <a:endParaRPr sz="15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idx="1" type="body"/>
          </p:nvPr>
        </p:nvSpPr>
        <p:spPr>
          <a:xfrm>
            <a:off x="208800" y="152800"/>
            <a:ext cx="8520600" cy="128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latin typeface="Times New Roman"/>
                <a:ea typeface="Times New Roman"/>
                <a:cs typeface="Times New Roman"/>
                <a:sym typeface="Times New Roman"/>
              </a:rPr>
              <a:t>Python, Java, JavaScript, have high usage in both </a:t>
            </a:r>
            <a:r>
              <a:rPr lang="en">
                <a:solidFill>
                  <a:srgbClr val="000000"/>
                </a:solidFill>
                <a:latin typeface="Times New Roman"/>
                <a:ea typeface="Times New Roman"/>
                <a:cs typeface="Times New Roman"/>
                <a:sym typeface="Times New Roman"/>
              </a:rPr>
              <a:t>industry</a:t>
            </a:r>
            <a:r>
              <a:rPr lang="en">
                <a:solidFill>
                  <a:srgbClr val="000000"/>
                </a:solidFill>
                <a:latin typeface="Times New Roman"/>
                <a:ea typeface="Times New Roman"/>
                <a:cs typeface="Times New Roman"/>
                <a:sym typeface="Times New Roman"/>
              </a:rPr>
              <a:t> and academia</a:t>
            </a:r>
            <a:endParaRPr>
              <a:solidFill>
                <a:srgbClr val="000000"/>
              </a:solidFill>
              <a:latin typeface="Times New Roman"/>
              <a:ea typeface="Times New Roman"/>
              <a:cs typeface="Times New Roman"/>
              <a:sym typeface="Times New Roman"/>
            </a:endParaRPr>
          </a:p>
          <a:p>
            <a:pPr indent="-342900" lvl="1" marL="914400" rtl="0" algn="l">
              <a:spcBef>
                <a:spcPts val="120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Low learning curve</a:t>
            </a:r>
            <a:endParaRPr sz="1800">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versatile</a:t>
            </a:r>
            <a:endParaRPr sz="1800">
              <a:solidFill>
                <a:srgbClr val="000000"/>
              </a:solidFill>
              <a:latin typeface="Times New Roman"/>
              <a:ea typeface="Times New Roman"/>
              <a:cs typeface="Times New Roman"/>
              <a:sym typeface="Times New Roman"/>
            </a:endParaRPr>
          </a:p>
        </p:txBody>
      </p:sp>
      <p:sp>
        <p:nvSpPr>
          <p:cNvPr id="159" name="Google Shape;159;p24"/>
          <p:cNvSpPr txBox="1"/>
          <p:nvPr/>
        </p:nvSpPr>
        <p:spPr>
          <a:xfrm>
            <a:off x="4752650" y="1440700"/>
            <a:ext cx="4247400" cy="290100"/>
          </a:xfrm>
          <a:prstGeom prst="rect">
            <a:avLst/>
          </a:prstGeom>
          <a:solidFill>
            <a:srgbClr val="FFFFFF"/>
          </a:solidFill>
          <a:ln>
            <a:noFill/>
          </a:ln>
        </p:spPr>
        <p:txBody>
          <a:bodyPr anchorCtr="0" anchor="t" bIns="95575" lIns="95575" spcFirstLastPara="1" rIns="95575" wrap="square" tIns="95575">
            <a:noAutofit/>
          </a:bodyPr>
          <a:lstStyle/>
          <a:p>
            <a:pPr indent="0" lvl="0" marL="0" rtl="0" algn="l">
              <a:spcBef>
                <a:spcPts val="0"/>
              </a:spcBef>
              <a:spcAft>
                <a:spcPts val="0"/>
              </a:spcAft>
              <a:buNone/>
            </a:pPr>
            <a:r>
              <a:rPr lang="en" sz="1066">
                <a:solidFill>
                  <a:schemeClr val="dk1"/>
                </a:solidFill>
                <a:highlight>
                  <a:srgbClr val="FFFFFF"/>
                </a:highlight>
                <a:latin typeface="Times New Roman"/>
                <a:ea typeface="Times New Roman"/>
                <a:cs typeface="Times New Roman"/>
                <a:sym typeface="Times New Roman"/>
              </a:rPr>
              <a:t>GitHub</a:t>
            </a:r>
            <a:endParaRPr sz="1254">
              <a:solidFill>
                <a:schemeClr val="dk1"/>
              </a:solidFill>
              <a:highlight>
                <a:srgbClr val="FFFFFF"/>
              </a:highlight>
              <a:latin typeface="Times New Roman"/>
              <a:ea typeface="Times New Roman"/>
              <a:cs typeface="Times New Roman"/>
              <a:sym typeface="Times New Roman"/>
            </a:endParaRPr>
          </a:p>
        </p:txBody>
      </p:sp>
      <p:pic>
        <p:nvPicPr>
          <p:cNvPr id="160" name="Google Shape;160;p24"/>
          <p:cNvPicPr preferRelativeResize="0"/>
          <p:nvPr/>
        </p:nvPicPr>
        <p:blipFill rotWithShape="1">
          <a:blip r:embed="rId3">
            <a:alphaModFix/>
          </a:blip>
          <a:srcRect b="0" l="0" r="0" t="4616"/>
          <a:stretch/>
        </p:blipFill>
        <p:spPr>
          <a:xfrm>
            <a:off x="4752893" y="1703844"/>
            <a:ext cx="4247636" cy="2506162"/>
          </a:xfrm>
          <a:prstGeom prst="rect">
            <a:avLst/>
          </a:prstGeom>
          <a:noFill/>
          <a:ln>
            <a:noFill/>
          </a:ln>
        </p:spPr>
      </p:pic>
      <p:sp>
        <p:nvSpPr>
          <p:cNvPr id="161" name="Google Shape;161;p24"/>
          <p:cNvSpPr txBox="1"/>
          <p:nvPr/>
        </p:nvSpPr>
        <p:spPr>
          <a:xfrm>
            <a:off x="4752851" y="4066425"/>
            <a:ext cx="4247700" cy="206700"/>
          </a:xfrm>
          <a:prstGeom prst="rect">
            <a:avLst/>
          </a:prstGeom>
          <a:solidFill>
            <a:srgbClr val="FFFFFF"/>
          </a:solidFill>
          <a:ln>
            <a:noFill/>
          </a:ln>
        </p:spPr>
        <p:txBody>
          <a:bodyPr anchorCtr="0" anchor="ctr" bIns="51325" lIns="51325" spcFirstLastPara="1" rIns="51325" wrap="square" tIns="51325">
            <a:noAutofit/>
          </a:bodyPr>
          <a:lstStyle/>
          <a:p>
            <a:pPr indent="0" lvl="0" marL="0" rtl="0" algn="ctr">
              <a:spcBef>
                <a:spcPts val="0"/>
              </a:spcBef>
              <a:spcAft>
                <a:spcPts val="0"/>
              </a:spcAft>
              <a:buNone/>
            </a:pPr>
            <a:r>
              <a:rPr lang="en" sz="1178">
                <a:highlight>
                  <a:srgbClr val="FFFFFF"/>
                </a:highlight>
                <a:latin typeface="Times New Roman"/>
                <a:ea typeface="Times New Roman"/>
                <a:cs typeface="Times New Roman"/>
                <a:sym typeface="Times New Roman"/>
              </a:rPr>
              <a:t>%</a:t>
            </a:r>
            <a:r>
              <a:rPr lang="en" sz="1010">
                <a:highlight>
                  <a:srgbClr val="FFFFFF"/>
                </a:highlight>
                <a:latin typeface="Times New Roman"/>
                <a:ea typeface="Times New Roman"/>
                <a:cs typeface="Times New Roman"/>
                <a:sym typeface="Times New Roman"/>
              </a:rPr>
              <a:t> of GitHub repositories of each academic language</a:t>
            </a:r>
            <a:endParaRPr sz="1010">
              <a:highlight>
                <a:srgbClr val="FFFFFF"/>
              </a:highlight>
              <a:latin typeface="Times New Roman"/>
              <a:ea typeface="Times New Roman"/>
              <a:cs typeface="Times New Roman"/>
              <a:sym typeface="Times New Roman"/>
            </a:endParaRPr>
          </a:p>
        </p:txBody>
      </p:sp>
      <p:pic>
        <p:nvPicPr>
          <p:cNvPr id="162" name="Google Shape;162;p24" title="Chart"/>
          <p:cNvPicPr preferRelativeResize="0"/>
          <p:nvPr/>
        </p:nvPicPr>
        <p:blipFill rotWithShape="1">
          <a:blip r:embed="rId4">
            <a:alphaModFix/>
          </a:blip>
          <a:srcRect b="2669" l="2872" r="2313" t="2651"/>
          <a:stretch/>
        </p:blipFill>
        <p:spPr>
          <a:xfrm>
            <a:off x="141150" y="1730800"/>
            <a:ext cx="4346349" cy="2683849"/>
          </a:xfrm>
          <a:prstGeom prst="rect">
            <a:avLst/>
          </a:prstGeom>
          <a:noFill/>
          <a:ln>
            <a:noFill/>
          </a:ln>
        </p:spPr>
      </p:pic>
      <p:sp>
        <p:nvSpPr>
          <p:cNvPr id="163" name="Google Shape;163;p24"/>
          <p:cNvSpPr txBox="1"/>
          <p:nvPr/>
        </p:nvSpPr>
        <p:spPr>
          <a:xfrm>
            <a:off x="190625" y="1440700"/>
            <a:ext cx="4247400" cy="290100"/>
          </a:xfrm>
          <a:prstGeom prst="rect">
            <a:avLst/>
          </a:prstGeom>
          <a:noFill/>
          <a:ln>
            <a:noFill/>
          </a:ln>
        </p:spPr>
        <p:txBody>
          <a:bodyPr anchorCtr="0" anchor="t" bIns="95575" lIns="95575" spcFirstLastPara="1" rIns="95575" wrap="square" tIns="95575">
            <a:noAutofit/>
          </a:bodyPr>
          <a:lstStyle/>
          <a:p>
            <a:pPr indent="0" lvl="0" marL="0" rtl="0" algn="l">
              <a:spcBef>
                <a:spcPts val="0"/>
              </a:spcBef>
              <a:spcAft>
                <a:spcPts val="0"/>
              </a:spcAft>
              <a:buNone/>
            </a:pPr>
            <a:r>
              <a:rPr lang="en" sz="1066">
                <a:solidFill>
                  <a:schemeClr val="dk1"/>
                </a:solidFill>
                <a:highlight>
                  <a:srgbClr val="FFFFFF"/>
                </a:highlight>
                <a:latin typeface="Times New Roman"/>
                <a:ea typeface="Times New Roman"/>
                <a:cs typeface="Times New Roman"/>
                <a:sym typeface="Times New Roman"/>
              </a:rPr>
              <a:t>Academic Languages</a:t>
            </a:r>
            <a:endParaRPr sz="1254">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lnSpc>
                <a:spcPct val="200000"/>
              </a:lnSpc>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Limited curricular information available</a:t>
            </a:r>
            <a:endParaRPr sz="2400">
              <a:solidFill>
                <a:srgbClr val="000000"/>
              </a:solidFill>
              <a:latin typeface="Times New Roman"/>
              <a:ea typeface="Times New Roman"/>
              <a:cs typeface="Times New Roman"/>
              <a:sym typeface="Times New Roman"/>
            </a:endParaRPr>
          </a:p>
          <a:p>
            <a:pPr indent="-381000" lvl="0" marL="457200" rtl="0" algn="l">
              <a:lnSpc>
                <a:spcPct val="200000"/>
              </a:lnSpc>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Emailing professors</a:t>
            </a:r>
            <a:endParaRPr sz="2400">
              <a:solidFill>
                <a:srgbClr val="000000"/>
              </a:solidFill>
              <a:latin typeface="Times New Roman"/>
              <a:ea typeface="Times New Roman"/>
              <a:cs typeface="Times New Roman"/>
              <a:sym typeface="Times New Roman"/>
            </a:endParaRPr>
          </a:p>
          <a:p>
            <a:pPr indent="-381000" lvl="0" marL="457200" rtl="0" algn="l">
              <a:lnSpc>
                <a:spcPct val="200000"/>
              </a:lnSpc>
              <a:spcBef>
                <a:spcPts val="0"/>
              </a:spcBef>
              <a:spcAft>
                <a:spcPts val="0"/>
              </a:spcAft>
              <a:buClr>
                <a:srgbClr val="000000"/>
              </a:buClr>
              <a:buSzPts val="2400"/>
              <a:buFont typeface="Times New Roman"/>
              <a:buChar char="-"/>
            </a:pPr>
            <a:r>
              <a:rPr lang="en" sz="2400">
                <a:solidFill>
                  <a:srgbClr val="000000"/>
                </a:solidFill>
                <a:latin typeface="Times New Roman"/>
                <a:ea typeface="Times New Roman"/>
                <a:cs typeface="Times New Roman"/>
                <a:sym typeface="Times New Roman"/>
              </a:rPr>
              <a:t>Limited industry data </a:t>
            </a:r>
            <a:r>
              <a:rPr lang="en" sz="2400" u="sng">
                <a:solidFill>
                  <a:srgbClr val="000000"/>
                </a:solidFill>
                <a:latin typeface="Times New Roman"/>
                <a:ea typeface="Times New Roman"/>
                <a:cs typeface="Times New Roman"/>
                <a:sym typeface="Times New Roman"/>
              </a:rPr>
              <a:t>completeness</a:t>
            </a:r>
            <a:endParaRPr sz="2400" u="sng">
              <a:solidFill>
                <a:srgbClr val="000000"/>
              </a:solidFill>
              <a:latin typeface="Times New Roman"/>
              <a:ea typeface="Times New Roman"/>
              <a:cs typeface="Times New Roman"/>
              <a:sym typeface="Times New Roman"/>
            </a:endParaRPr>
          </a:p>
        </p:txBody>
      </p:sp>
      <p:sp>
        <p:nvSpPr>
          <p:cNvPr id="169" name="Google Shape;16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Sources of Error</a:t>
            </a:r>
            <a:endParaRPr b="1" sz="262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ctrTitle"/>
          </p:nvPr>
        </p:nvSpPr>
        <p:spPr>
          <a:xfrm>
            <a:off x="311708" y="8440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Calibri"/>
                <a:ea typeface="Calibri"/>
                <a:cs typeface="Calibri"/>
                <a:sym typeface="Calibri"/>
              </a:rPr>
              <a:t>Thank you for listening!</a:t>
            </a:r>
            <a:endParaRPr b="1">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